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1.xml" ContentType="application/vnd.openxmlformats-officedocument.presentationml.tag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5"/>
  </p:notesMasterIdLst>
  <p:handoutMasterIdLst>
    <p:handoutMasterId r:id="rId16"/>
  </p:handoutMasterIdLst>
  <p:sldIdLst>
    <p:sldId id="2147378059" r:id="rId2"/>
    <p:sldId id="16671536" r:id="rId3"/>
    <p:sldId id="2147378095" r:id="rId4"/>
    <p:sldId id="16671648" r:id="rId5"/>
    <p:sldId id="2147378043" r:id="rId6"/>
    <p:sldId id="2147378098" r:id="rId7"/>
    <p:sldId id="2147378096" r:id="rId8"/>
    <p:sldId id="2147378097" r:id="rId9"/>
    <p:sldId id="16766951" r:id="rId10"/>
    <p:sldId id="16766965" r:id="rId11"/>
    <p:sldId id="16766959" r:id="rId12"/>
    <p:sldId id="16766964" r:id="rId13"/>
    <p:sldId id="2147377974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蔡成伟" initials="蔡成伟" lastIdx="3" clrIdx="0">
    <p:extLst>
      <p:ext uri="{19B8F6BF-5375-455C-9EA6-DF929625EA0E}">
        <p15:presenceInfo xmlns:p15="http://schemas.microsoft.com/office/powerpoint/2012/main" userId="S-1-5-21-3516363203-1945997871-3867245599-3533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中度样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60" autoAdjust="0"/>
    <p:restoredTop sz="95770" autoAdjust="0"/>
  </p:normalViewPr>
  <p:slideViewPr>
    <p:cSldViewPr snapToGrid="0">
      <p:cViewPr varScale="1">
        <p:scale>
          <a:sx n="94" d="100"/>
          <a:sy n="94" d="100"/>
        </p:scale>
        <p:origin x="1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backfile\caicw\&#26700;&#38754;\&#21452;&#21608;&#25253;_&#26032;\6.&#29289;&#27969;&#26041;&#24335;&#19981;&#19968;&#33268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backfile\caicw\&#26700;&#38754;\&#21452;&#21608;&#25253;_&#26032;\2.&#22791;&#20214;&#36755;&#26426;&#19982;&#37327;&#20135;&#20214;&#35064;&#20215;&#19968;&#33268;&#24615;&#28857;&#26816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backfile\caicw\&#26700;&#38754;\&#21452;&#21608;&#25253;_&#26032;\3.&#22791;&#20214;&#32852;&#21160;&#26631;&#35782;&#28857;&#26816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backfile\caicw\&#26700;&#38754;\&#21452;&#21608;&#25253;_&#26032;\3.&#22791;&#20214;&#32852;&#21160;&#26631;&#35782;&#28857;&#26816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66135488681973E-3"/>
          <c:y val="4.6121608518334245E-2"/>
          <c:w val="0.98776375841401176"/>
          <c:h val="0.77747000692319346"/>
        </c:manualLayout>
      </c:layout>
      <c:barChart>
        <c:barDir val="col"/>
        <c:grouping val="clustered"/>
        <c:varyColors val="0"/>
        <c:ser>
          <c:idx val="3"/>
          <c:order val="3"/>
          <c:tx>
            <c:strRef>
              <c:f>双周报图表_!$A$5</c:f>
              <c:strCache>
                <c:ptCount val="1"/>
                <c:pt idx="0">
                  <c:v>当期新增输机零件数</c:v>
                </c:pt>
              </c:strCache>
            </c:strRef>
          </c:tx>
          <c:spPr>
            <a:noFill/>
            <a:ln w="25400"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双周报图表_!$J$1:$S$1</c:f>
              <c:numCache>
                <c:formatCode>General</c:formatCode>
                <c:ptCount val="10"/>
                <c:pt idx="0">
                  <c:v>202508</c:v>
                </c:pt>
                <c:pt idx="1">
                  <c:v>202509</c:v>
                </c:pt>
                <c:pt idx="2">
                  <c:v>202510</c:v>
                </c:pt>
                <c:pt idx="3">
                  <c:v>202511</c:v>
                </c:pt>
                <c:pt idx="4">
                  <c:v>202512</c:v>
                </c:pt>
                <c:pt idx="5">
                  <c:v>202601</c:v>
                </c:pt>
                <c:pt idx="6">
                  <c:v>202602</c:v>
                </c:pt>
                <c:pt idx="7">
                  <c:v>202603</c:v>
                </c:pt>
                <c:pt idx="8">
                  <c:v>202604</c:v>
                </c:pt>
                <c:pt idx="9">
                  <c:v>202605</c:v>
                </c:pt>
              </c:numCache>
            </c:numRef>
          </c:cat>
          <c:val>
            <c:numRef>
              <c:f>双周报图表_!$J$5:$S$5</c:f>
              <c:numCache>
                <c:formatCode>General</c:formatCode>
                <c:ptCount val="10"/>
                <c:pt idx="0">
                  <c:v>2025</c:v>
                </c:pt>
                <c:pt idx="1">
                  <c:v>1597</c:v>
                </c:pt>
                <c:pt idx="2">
                  <c:v>919</c:v>
                </c:pt>
                <c:pt idx="3">
                  <c:v>933</c:v>
                </c:pt>
                <c:pt idx="4">
                  <c:v>1213</c:v>
                </c:pt>
                <c:pt idx="5">
                  <c:v>2713</c:v>
                </c:pt>
                <c:pt idx="6">
                  <c:v>8922</c:v>
                </c:pt>
                <c:pt idx="7">
                  <c:v>14653</c:v>
                </c:pt>
                <c:pt idx="8">
                  <c:v>4497</c:v>
                </c:pt>
                <c:pt idx="9">
                  <c:v>4265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A3-4656-A705-0E39B0443E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0315416"/>
        <c:axId val="240314104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双周报图表_!$A$2</c15:sqref>
                        </c15:formulaRef>
                      </c:ext>
                    </c:extLst>
                    <c:strCache>
                      <c:ptCount val="1"/>
                      <c:pt idx="0">
                        <c:v>不一致数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cat>
                  <c:numRef>
                    <c:extLst>
                      <c:ext uri="{02D57815-91ED-43cb-92C2-25804820EDAC}">
                        <c15:formulaRef>
                          <c15:sqref>双周报图表_!$J$1:$S$1</c15:sqref>
                        </c15:formulaRef>
                      </c:ext>
                    </c:extLst>
                    <c:numCache>
                      <c:formatCode>General</c:formatCode>
                      <c:ptCount val="10"/>
                      <c:pt idx="0">
                        <c:v>202508</c:v>
                      </c:pt>
                      <c:pt idx="1">
                        <c:v>202509</c:v>
                      </c:pt>
                      <c:pt idx="2">
                        <c:v>202510</c:v>
                      </c:pt>
                      <c:pt idx="3">
                        <c:v>202511</c:v>
                      </c:pt>
                      <c:pt idx="4">
                        <c:v>202512</c:v>
                      </c:pt>
                      <c:pt idx="5">
                        <c:v>202601</c:v>
                      </c:pt>
                      <c:pt idx="6">
                        <c:v>202602</c:v>
                      </c:pt>
                      <c:pt idx="7">
                        <c:v>202603</c:v>
                      </c:pt>
                      <c:pt idx="8">
                        <c:v>202604</c:v>
                      </c:pt>
                      <c:pt idx="9">
                        <c:v>202605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双周报图表_!$J$2:$S$2</c15:sqref>
                        </c15:formulaRef>
                      </c:ext>
                    </c:extLst>
                    <c:numCache>
                      <c:formatCode>General</c:formatCode>
                      <c:ptCount val="1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2</c:v>
                      </c:pt>
                      <c:pt idx="5">
                        <c:v>8</c:v>
                      </c:pt>
                      <c:pt idx="6">
                        <c:v>44</c:v>
                      </c:pt>
                      <c:pt idx="7">
                        <c:v>7</c:v>
                      </c:pt>
                      <c:pt idx="8">
                        <c:v>9</c:v>
                      </c:pt>
                      <c:pt idx="9">
                        <c:v>6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D-89A3-4656-A705-0E39B0443E30}"/>
                  </c:ext>
                </c:extLst>
              </c15:ser>
            </c15:filteredBarSeries>
            <c15:filteredBa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双周报图表_!$A$3</c15:sqref>
                        </c15:formulaRef>
                      </c:ext>
                    </c:extLst>
                    <c:strCache>
                      <c:ptCount val="1"/>
                      <c:pt idx="0">
                        <c:v>总项数</c:v>
                      </c:pt>
                    </c:strCache>
                  </c:strRef>
                </c:tx>
                <c:spPr>
                  <a:noFill/>
                  <a:ln w="19050">
                    <a:solidFill>
                      <a:schemeClr val="tx1"/>
                    </a:solidFill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zh-CN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双周报图表_!$J$1:$S$1</c15:sqref>
                        </c15:formulaRef>
                      </c:ext>
                    </c:extLst>
                    <c:numCache>
                      <c:formatCode>General</c:formatCode>
                      <c:ptCount val="10"/>
                      <c:pt idx="0">
                        <c:v>202508</c:v>
                      </c:pt>
                      <c:pt idx="1">
                        <c:v>202509</c:v>
                      </c:pt>
                      <c:pt idx="2">
                        <c:v>202510</c:v>
                      </c:pt>
                      <c:pt idx="3">
                        <c:v>202511</c:v>
                      </c:pt>
                      <c:pt idx="4">
                        <c:v>202512</c:v>
                      </c:pt>
                      <c:pt idx="5">
                        <c:v>202601</c:v>
                      </c:pt>
                      <c:pt idx="6">
                        <c:v>202602</c:v>
                      </c:pt>
                      <c:pt idx="7">
                        <c:v>202603</c:v>
                      </c:pt>
                      <c:pt idx="8">
                        <c:v>202604</c:v>
                      </c:pt>
                      <c:pt idx="9">
                        <c:v>202605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双周报图表_!$J$3:$S$3</c15:sqref>
                        </c15:formulaRef>
                      </c:ext>
                    </c:extLst>
                    <c:numCache>
                      <c:formatCode>General</c:formatCode>
                      <c:ptCount val="10"/>
                      <c:pt idx="0">
                        <c:v>53193</c:v>
                      </c:pt>
                      <c:pt idx="1">
                        <c:v>53193</c:v>
                      </c:pt>
                      <c:pt idx="2">
                        <c:v>54133</c:v>
                      </c:pt>
                      <c:pt idx="3">
                        <c:v>54133</c:v>
                      </c:pt>
                      <c:pt idx="4">
                        <c:v>54133</c:v>
                      </c:pt>
                      <c:pt idx="5">
                        <c:v>54133</c:v>
                      </c:pt>
                      <c:pt idx="6">
                        <c:v>54133</c:v>
                      </c:pt>
                      <c:pt idx="7">
                        <c:v>54133</c:v>
                      </c:pt>
                      <c:pt idx="8">
                        <c:v>54134</c:v>
                      </c:pt>
                      <c:pt idx="9">
                        <c:v>54134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E-89A3-4656-A705-0E39B0443E30}"/>
                  </c:ext>
                </c:extLst>
              </c15:ser>
            </c15:filteredBarSeries>
          </c:ext>
        </c:extLst>
      </c:barChart>
      <c:lineChart>
        <c:grouping val="standard"/>
        <c:varyColors val="0"/>
        <c:ser>
          <c:idx val="2"/>
          <c:order val="2"/>
          <c:tx>
            <c:strRef>
              <c:f>双周报图表_!$A$4</c:f>
              <c:strCache>
                <c:ptCount val="1"/>
                <c:pt idx="0">
                  <c:v>一致率</c:v>
                </c:pt>
              </c:strCache>
            </c:strRef>
          </c:tx>
          <c:spPr>
            <a:ln w="28575" cap="rnd">
              <a:solidFill>
                <a:schemeClr val="bg1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9"/>
            <c:spPr>
              <a:solidFill>
                <a:schemeClr val="accent3"/>
              </a:solidFill>
              <a:ln w="9525">
                <a:solidFill>
                  <a:srgbClr val="92D050"/>
                </a:solidFill>
              </a:ln>
              <a:effectLst/>
            </c:spPr>
          </c:marker>
          <c:dPt>
            <c:idx val="0"/>
            <c:marker>
              <c:symbol val="circle"/>
              <c:size val="9"/>
              <c:spPr>
                <a:solidFill>
                  <a:srgbClr val="92D050"/>
                </a:solidFill>
                <a:ln w="9525">
                  <a:solidFill>
                    <a:srgbClr val="92D05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89A3-4656-A705-0E39B0443E30}"/>
              </c:ext>
            </c:extLst>
          </c:dPt>
          <c:dPt>
            <c:idx val="1"/>
            <c:marker>
              <c:symbol val="circle"/>
              <c:size val="9"/>
              <c:spPr>
                <a:solidFill>
                  <a:srgbClr val="92D050"/>
                </a:solidFill>
                <a:ln w="9525">
                  <a:solidFill>
                    <a:srgbClr val="92D05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89A3-4656-A705-0E39B0443E30}"/>
              </c:ext>
            </c:extLst>
          </c:dPt>
          <c:dPt>
            <c:idx val="2"/>
            <c:marker>
              <c:symbol val="circle"/>
              <c:size val="9"/>
              <c:spPr>
                <a:solidFill>
                  <a:srgbClr val="92D050"/>
                </a:solidFill>
                <a:ln w="9525">
                  <a:solidFill>
                    <a:srgbClr val="92D05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89A3-4656-A705-0E39B0443E30}"/>
              </c:ext>
            </c:extLst>
          </c:dPt>
          <c:dPt>
            <c:idx val="3"/>
            <c:marker>
              <c:symbol val="circle"/>
              <c:size val="9"/>
              <c:spPr>
                <a:solidFill>
                  <a:srgbClr val="92D050"/>
                </a:solidFill>
                <a:ln w="9525">
                  <a:solidFill>
                    <a:srgbClr val="92D05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89A3-4656-A705-0E39B0443E30}"/>
              </c:ext>
            </c:extLst>
          </c:dPt>
          <c:dPt>
            <c:idx val="4"/>
            <c:marker>
              <c:symbol val="circle"/>
              <c:size val="9"/>
              <c:spPr>
                <a:solidFill>
                  <a:srgbClr val="92D050"/>
                </a:solidFill>
                <a:ln w="9525">
                  <a:solidFill>
                    <a:srgbClr val="92D05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89A3-4656-A705-0E39B0443E30}"/>
              </c:ext>
            </c:extLst>
          </c:dPt>
          <c:dPt>
            <c:idx val="6"/>
            <c:marker>
              <c:symbol val="circle"/>
              <c:size val="9"/>
              <c:spPr>
                <a:solidFill>
                  <a:srgbClr val="FF0000"/>
                </a:solidFill>
                <a:ln w="9525">
                  <a:solidFill>
                    <a:srgbClr val="92D05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89A3-4656-A705-0E39B0443E30}"/>
              </c:ext>
            </c:extLst>
          </c:dPt>
          <c:dPt>
            <c:idx val="7"/>
            <c:marker>
              <c:symbol val="circle"/>
              <c:size val="9"/>
              <c:spPr>
                <a:solidFill>
                  <a:srgbClr val="FF0000"/>
                </a:solidFill>
                <a:ln w="9525">
                  <a:solidFill>
                    <a:srgbClr val="92D05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89A3-4656-A705-0E39B0443E30}"/>
              </c:ext>
            </c:extLst>
          </c:dPt>
          <c:dPt>
            <c:idx val="8"/>
            <c:marker>
              <c:symbol val="circle"/>
              <c:size val="9"/>
              <c:spPr>
                <a:solidFill>
                  <a:srgbClr val="FF0000"/>
                </a:solidFill>
                <a:ln w="9525">
                  <a:solidFill>
                    <a:srgbClr val="92D05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8-89A3-4656-A705-0E39B0443E30}"/>
              </c:ext>
            </c:extLst>
          </c:dPt>
          <c:dPt>
            <c:idx val="9"/>
            <c:marker>
              <c:symbol val="circle"/>
              <c:size val="9"/>
              <c:spPr>
                <a:solidFill>
                  <a:srgbClr val="C00000"/>
                </a:solidFill>
                <a:ln w="9525">
                  <a:solidFill>
                    <a:srgbClr val="92D05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9-89A3-4656-A705-0E39B0443E30}"/>
              </c:ext>
            </c:extLst>
          </c:dPt>
          <c:dPt>
            <c:idx val="10"/>
            <c:marker>
              <c:symbol val="circle"/>
              <c:size val="9"/>
              <c:spPr>
                <a:solidFill>
                  <a:srgbClr val="FF0000"/>
                </a:solidFill>
                <a:ln w="9525">
                  <a:solidFill>
                    <a:srgbClr val="92D05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A-89A3-4656-A705-0E39B0443E30}"/>
              </c:ext>
            </c:extLst>
          </c:dPt>
          <c:dPt>
            <c:idx val="11"/>
            <c:marker>
              <c:symbol val="circle"/>
              <c:size val="9"/>
              <c:spPr>
                <a:solidFill>
                  <a:srgbClr val="C00000"/>
                </a:solidFill>
                <a:ln w="9525">
                  <a:solidFill>
                    <a:srgbClr val="92D05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B-89A3-4656-A705-0E39B0443E30}"/>
              </c:ext>
            </c:extLst>
          </c:dPt>
          <c:dLbls>
            <c:dLbl>
              <c:idx val="7"/>
              <c:layout>
                <c:manualLayout>
                  <c:x val="-9.2401729896735355E-2"/>
                  <c:y val="-3.737407775094302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9A3-4656-A705-0E39B0443E30}"/>
                </c:ext>
              </c:extLst>
            </c:dLbl>
            <c:dLbl>
              <c:idx val="8"/>
              <c:layout>
                <c:manualLayout>
                  <c:x val="2.9633230006779813E-2"/>
                  <c:y val="-4.506421720586957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89A3-4656-A705-0E39B0443E30}"/>
                </c:ext>
              </c:extLst>
            </c:dLbl>
            <c:dLbl>
              <c:idx val="10"/>
              <c:layout>
                <c:manualLayout>
                  <c:x val="-3.048183303919973E-2"/>
                  <c:y val="-0.1032214452199124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89A3-4656-A705-0E39B0443E30}"/>
                </c:ext>
              </c:extLst>
            </c:dLbl>
            <c:dLbl>
              <c:idx val="11"/>
              <c:layout>
                <c:manualLayout>
                  <c:x val="-1.238410621857655E-2"/>
                  <c:y val="-0.1575045677061123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89A3-4656-A705-0E39B0443E3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双周报图表_!$J$1:$S$1</c:f>
              <c:numCache>
                <c:formatCode>General</c:formatCode>
                <c:ptCount val="10"/>
                <c:pt idx="0">
                  <c:v>202508</c:v>
                </c:pt>
                <c:pt idx="1">
                  <c:v>202509</c:v>
                </c:pt>
                <c:pt idx="2">
                  <c:v>202510</c:v>
                </c:pt>
                <c:pt idx="3">
                  <c:v>202511</c:v>
                </c:pt>
                <c:pt idx="4">
                  <c:v>202512</c:v>
                </c:pt>
                <c:pt idx="5">
                  <c:v>202601</c:v>
                </c:pt>
                <c:pt idx="6">
                  <c:v>202602</c:v>
                </c:pt>
                <c:pt idx="7">
                  <c:v>202603</c:v>
                </c:pt>
                <c:pt idx="8">
                  <c:v>202604</c:v>
                </c:pt>
                <c:pt idx="9">
                  <c:v>202605</c:v>
                </c:pt>
              </c:numCache>
            </c:numRef>
          </c:cat>
          <c:val>
            <c:numRef>
              <c:f>双周报图表_!$J$4:$S$4</c:f>
              <c:numCache>
                <c:formatCode>0.00%</c:formatCode>
                <c:ptCount val="1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0.99996305395969187</c:v>
                </c:pt>
                <c:pt idx="5">
                  <c:v>0.99985221583876749</c:v>
                </c:pt>
                <c:pt idx="6">
                  <c:v>0.99506837032055595</c:v>
                </c:pt>
                <c:pt idx="7">
                  <c:v>0.99952228212652694</c:v>
                </c:pt>
                <c:pt idx="8">
                  <c:v>0.99799866577718477</c:v>
                </c:pt>
                <c:pt idx="9">
                  <c:v>0.99859320046893318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89A3-4656-A705-0E39B0443E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86551472"/>
        <c:axId val="686560000"/>
      </c:lineChart>
      <c:catAx>
        <c:axId val="6865514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86560000"/>
        <c:crosses val="autoZero"/>
        <c:auto val="1"/>
        <c:lblAlgn val="ctr"/>
        <c:lblOffset val="100"/>
        <c:noMultiLvlLbl val="0"/>
      </c:catAx>
      <c:valAx>
        <c:axId val="686560000"/>
        <c:scaling>
          <c:orientation val="minMax"/>
        </c:scaling>
        <c:delete val="0"/>
        <c:axPos val="l"/>
        <c:numFmt formatCode="0.0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86551472"/>
        <c:crosses val="autoZero"/>
        <c:crossBetween val="between"/>
      </c:valAx>
      <c:valAx>
        <c:axId val="24031410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40315416"/>
        <c:crosses val="max"/>
        <c:crossBetween val="between"/>
      </c:valAx>
      <c:catAx>
        <c:axId val="24031541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4031410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8930814533130009"/>
          <c:y val="0.92002865794614319"/>
          <c:w val="0.21075497128341183"/>
          <c:h val="7.046416179592637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2372490318684482E-3"/>
          <c:y val="4.6121608518334245E-2"/>
          <c:w val="0.9877940956355763"/>
          <c:h val="0.77747000692319346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双周报图表_202507!$A$3</c:f>
              <c:strCache>
                <c:ptCount val="1"/>
                <c:pt idx="0">
                  <c:v>新增生效备件数量</c:v>
                </c:pt>
              </c:strCache>
            </c:strRef>
          </c:tx>
          <c:spPr>
            <a:noFill/>
            <a:ln w="28575">
              <a:solidFill>
                <a:schemeClr val="tx1"/>
              </a:solidFill>
            </a:ln>
            <a:effectLst/>
          </c:spPr>
          <c:invertIfNegative val="0"/>
          <c:dLbls>
            <c:dLbl>
              <c:idx val="8"/>
              <c:layout>
                <c:manualLayout>
                  <c:x val="-8.6368386377131868E-17"/>
                  <c:y val="0.3156985398583174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486-42E4-AAF1-940A7E15813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双周报图表_202507!$I$1:$S$1</c:f>
              <c:numCache>
                <c:formatCode>General</c:formatCode>
                <c:ptCount val="11"/>
                <c:pt idx="0">
                  <c:v>202507</c:v>
                </c:pt>
                <c:pt idx="1">
                  <c:v>202508</c:v>
                </c:pt>
                <c:pt idx="2">
                  <c:v>202509</c:v>
                </c:pt>
                <c:pt idx="3">
                  <c:v>202510</c:v>
                </c:pt>
                <c:pt idx="4">
                  <c:v>202511</c:v>
                </c:pt>
                <c:pt idx="5">
                  <c:v>202512</c:v>
                </c:pt>
                <c:pt idx="6">
                  <c:v>202601</c:v>
                </c:pt>
                <c:pt idx="7">
                  <c:v>202602</c:v>
                </c:pt>
                <c:pt idx="8">
                  <c:v>202603</c:v>
                </c:pt>
                <c:pt idx="9">
                  <c:v>202604</c:v>
                </c:pt>
                <c:pt idx="10">
                  <c:v>202605</c:v>
                </c:pt>
              </c:numCache>
            </c:numRef>
          </c:cat>
          <c:val>
            <c:numRef>
              <c:f>双周报图表_202507!$I$3:$S$3</c:f>
              <c:numCache>
                <c:formatCode>General</c:formatCode>
                <c:ptCount val="11"/>
                <c:pt idx="0">
                  <c:v>3154</c:v>
                </c:pt>
                <c:pt idx="1">
                  <c:v>1106</c:v>
                </c:pt>
                <c:pt idx="2">
                  <c:v>1043</c:v>
                </c:pt>
                <c:pt idx="3">
                  <c:v>1327</c:v>
                </c:pt>
                <c:pt idx="4">
                  <c:v>759</c:v>
                </c:pt>
                <c:pt idx="5">
                  <c:v>3099</c:v>
                </c:pt>
                <c:pt idx="6">
                  <c:v>1520</c:v>
                </c:pt>
                <c:pt idx="7">
                  <c:v>5005</c:v>
                </c:pt>
                <c:pt idx="8">
                  <c:v>6620</c:v>
                </c:pt>
                <c:pt idx="9">
                  <c:v>2444</c:v>
                </c:pt>
                <c:pt idx="10">
                  <c:v>2009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486-42E4-AAF1-940A7E1581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686551472"/>
        <c:axId val="686560000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双周报图表_202507!$A$2</c15:sqref>
                        </c15:formulaRef>
                      </c:ext>
                    </c:extLst>
                    <c:strCache>
                      <c:ptCount val="1"/>
                      <c:pt idx="0">
                        <c:v>备件裸价高于量产裸价数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cat>
                  <c:numRef>
                    <c:extLst>
                      <c:ext uri="{02D57815-91ED-43cb-92C2-25804820EDAC}">
                        <c15:formulaRef>
                          <c15:sqref>双周报图表_202507!$I$1:$S$1</c15:sqref>
                        </c15:formulaRef>
                      </c:ext>
                    </c:extLst>
                    <c:numCache>
                      <c:formatCode>General</c:formatCode>
                      <c:ptCount val="11"/>
                      <c:pt idx="0">
                        <c:v>202507</c:v>
                      </c:pt>
                      <c:pt idx="1">
                        <c:v>202508</c:v>
                      </c:pt>
                      <c:pt idx="2">
                        <c:v>202509</c:v>
                      </c:pt>
                      <c:pt idx="3">
                        <c:v>202510</c:v>
                      </c:pt>
                      <c:pt idx="4">
                        <c:v>202511</c:v>
                      </c:pt>
                      <c:pt idx="5">
                        <c:v>202512</c:v>
                      </c:pt>
                      <c:pt idx="6">
                        <c:v>202601</c:v>
                      </c:pt>
                      <c:pt idx="7">
                        <c:v>202602</c:v>
                      </c:pt>
                      <c:pt idx="8">
                        <c:v>202603</c:v>
                      </c:pt>
                      <c:pt idx="9">
                        <c:v>202604</c:v>
                      </c:pt>
                      <c:pt idx="10">
                        <c:v>202605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双周报图表_202507!$F$2:$Q$2</c15:sqref>
                        </c15:formulaRef>
                      </c:ext>
                    </c:extLst>
                    <c:numCache>
                      <c:formatCode>General</c:formatCode>
                      <c:ptCount val="12"/>
                      <c:pt idx="0">
                        <c:v>0</c:v>
                      </c:pt>
                      <c:pt idx="1">
                        <c:v>6</c:v>
                      </c:pt>
                      <c:pt idx="2">
                        <c:v>26</c:v>
                      </c:pt>
                      <c:pt idx="3">
                        <c:v>2</c:v>
                      </c:pt>
                      <c:pt idx="4">
                        <c:v>1</c:v>
                      </c:pt>
                      <c:pt idx="5">
                        <c:v>4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1</c:v>
                      </c:pt>
                      <c:pt idx="9">
                        <c:v>0</c:v>
                      </c:pt>
                      <c:pt idx="10">
                        <c:v>0</c:v>
                      </c:pt>
                      <c:pt idx="11">
                        <c:v>19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3-1486-42E4-AAF1-940A7E158138}"/>
                  </c:ext>
                </c:extLst>
              </c15:ser>
            </c15:filteredBarSeries>
          </c:ext>
        </c:extLst>
      </c:barChart>
      <c:lineChart>
        <c:grouping val="standard"/>
        <c:varyColors val="0"/>
        <c:ser>
          <c:idx val="2"/>
          <c:order val="2"/>
          <c:tx>
            <c:strRef>
              <c:f>双周报图表_202507!$A$4</c:f>
              <c:strCache>
                <c:ptCount val="1"/>
                <c:pt idx="0">
                  <c:v>备件&amp;量产件裸价一致率</c:v>
                </c:pt>
              </c:strCache>
            </c:strRef>
          </c:tx>
          <c:spPr>
            <a:ln w="28575" cap="rnd">
              <a:solidFill>
                <a:srgbClr val="92D050"/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3"/>
              </a:solidFill>
              <a:ln w="9525">
                <a:solidFill>
                  <a:schemeClr val="accent6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双周报图表_202507!$I$1:$S$1</c:f>
              <c:numCache>
                <c:formatCode>General</c:formatCode>
                <c:ptCount val="11"/>
                <c:pt idx="0">
                  <c:v>202507</c:v>
                </c:pt>
                <c:pt idx="1">
                  <c:v>202508</c:v>
                </c:pt>
                <c:pt idx="2">
                  <c:v>202509</c:v>
                </c:pt>
                <c:pt idx="3">
                  <c:v>202510</c:v>
                </c:pt>
                <c:pt idx="4">
                  <c:v>202511</c:v>
                </c:pt>
                <c:pt idx="5">
                  <c:v>202512</c:v>
                </c:pt>
                <c:pt idx="6">
                  <c:v>202601</c:v>
                </c:pt>
                <c:pt idx="7">
                  <c:v>202602</c:v>
                </c:pt>
                <c:pt idx="8">
                  <c:v>202603</c:v>
                </c:pt>
                <c:pt idx="9">
                  <c:v>202604</c:v>
                </c:pt>
                <c:pt idx="10">
                  <c:v>202605</c:v>
                </c:pt>
              </c:numCache>
            </c:numRef>
          </c:cat>
          <c:val>
            <c:numRef>
              <c:f>双周报图表_202507!$I$4:$S$4</c:f>
              <c:numCache>
                <c:formatCode>0.00%</c:formatCode>
                <c:ptCount val="11"/>
                <c:pt idx="0">
                  <c:v>0.99936588459099551</c:v>
                </c:pt>
                <c:pt idx="1">
                  <c:v>0.99909584086799275</c:v>
                </c:pt>
                <c:pt idx="2">
                  <c:v>0.99616490891658682</c:v>
                </c:pt>
                <c:pt idx="3">
                  <c:v>1</c:v>
                </c:pt>
                <c:pt idx="4">
                  <c:v>1</c:v>
                </c:pt>
                <c:pt idx="5">
                  <c:v>0.99967731526298809</c:v>
                </c:pt>
                <c:pt idx="6">
                  <c:v>1</c:v>
                </c:pt>
                <c:pt idx="7">
                  <c:v>1</c:v>
                </c:pt>
                <c:pt idx="8">
                  <c:v>0.9971299093655589</c:v>
                </c:pt>
                <c:pt idx="9">
                  <c:v>1</c:v>
                </c:pt>
                <c:pt idx="10">
                  <c:v>0.99950223992035836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486-42E4-AAF1-940A7E1581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19601912"/>
        <c:axId val="619601256"/>
      </c:lineChart>
      <c:catAx>
        <c:axId val="6865514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86560000"/>
        <c:crosses val="autoZero"/>
        <c:auto val="1"/>
        <c:lblAlgn val="ctr"/>
        <c:lblOffset val="100"/>
        <c:noMultiLvlLbl val="0"/>
      </c:catAx>
      <c:valAx>
        <c:axId val="6865600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86551472"/>
        <c:crosses val="autoZero"/>
        <c:crossBetween val="between"/>
      </c:valAx>
      <c:valAx>
        <c:axId val="619601256"/>
        <c:scaling>
          <c:orientation val="minMax"/>
          <c:max val="1"/>
          <c:min val="0"/>
        </c:scaling>
        <c:delete val="0"/>
        <c:axPos val="r"/>
        <c:numFmt formatCode="0.0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19601912"/>
        <c:crosses val="max"/>
        <c:crossBetween val="between"/>
      </c:valAx>
      <c:catAx>
        <c:axId val="6196019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61960125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3702859510982192E-3"/>
          <c:y val="4.6601906017833455E-2"/>
          <c:w val="0.96860339825942821"/>
          <c:h val="0.81289805181363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应联动项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Sheet1!$B$1:$I$1</c:f>
              <c:numCache>
                <c:formatCode>General</c:formatCode>
                <c:ptCount val="8"/>
                <c:pt idx="0">
                  <c:v>202605</c:v>
                </c:pt>
                <c:pt idx="1">
                  <c:v>202606</c:v>
                </c:pt>
                <c:pt idx="2">
                  <c:v>202607</c:v>
                </c:pt>
                <c:pt idx="3">
                  <c:v>202608</c:v>
                </c:pt>
                <c:pt idx="4">
                  <c:v>202609</c:v>
                </c:pt>
                <c:pt idx="5">
                  <c:v>202610</c:v>
                </c:pt>
                <c:pt idx="6">
                  <c:v>202611</c:v>
                </c:pt>
                <c:pt idx="7">
                  <c:v>202612</c:v>
                </c:pt>
              </c:numCache>
            </c:numRef>
          </c:cat>
          <c:val>
            <c:numRef>
              <c:f>Sheet1!$B$2:$I$2</c:f>
              <c:numCache>
                <c:formatCode>General</c:formatCode>
                <c:ptCount val="8"/>
                <c:pt idx="0">
                  <c:v>1207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8D-43EC-859E-B0B99B1B38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594727343"/>
        <c:axId val="653086783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Sheet1!$A$3</c15:sqref>
                        </c15:formulaRef>
                      </c:ext>
                    </c:extLst>
                    <c:strCache>
                      <c:ptCount val="1"/>
                      <c:pt idx="0">
                        <c:v>输机未联动项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cat>
                  <c:numRef>
                    <c:extLst>
                      <c:ext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202605</c:v>
                      </c:pt>
                      <c:pt idx="1">
                        <c:v>202606</c:v>
                      </c:pt>
                      <c:pt idx="2">
                        <c:v>202607</c:v>
                      </c:pt>
                      <c:pt idx="3">
                        <c:v>202608</c:v>
                      </c:pt>
                      <c:pt idx="4">
                        <c:v>202609</c:v>
                      </c:pt>
                      <c:pt idx="5">
                        <c:v>202610</c:v>
                      </c:pt>
                      <c:pt idx="6">
                        <c:v>202611</c:v>
                      </c:pt>
                      <c:pt idx="7">
                        <c:v>202612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Sheet1!$B$3:$I$3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0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C48D-43EC-859E-B0B99B1B3894}"/>
                  </c:ext>
                </c:extLst>
              </c15:ser>
            </c15:filteredBarSeries>
          </c:ext>
        </c:extLst>
      </c:barChart>
      <c:lineChart>
        <c:grouping val="standard"/>
        <c:varyColors val="0"/>
        <c:ser>
          <c:idx val="2"/>
          <c:order val="2"/>
          <c:tx>
            <c:strRef>
              <c:f>Sheet1!$A$4</c:f>
              <c:strCache>
                <c:ptCount val="1"/>
                <c:pt idx="0">
                  <c:v>联动率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diamond"/>
            <c:size val="7"/>
            <c:spPr>
              <a:solidFill>
                <a:schemeClr val="accent6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Sheet1!$B$1:$I$1</c:f>
              <c:numCache>
                <c:formatCode>General</c:formatCode>
                <c:ptCount val="8"/>
                <c:pt idx="0">
                  <c:v>202605</c:v>
                </c:pt>
                <c:pt idx="1">
                  <c:v>202606</c:v>
                </c:pt>
                <c:pt idx="2">
                  <c:v>202607</c:v>
                </c:pt>
                <c:pt idx="3">
                  <c:v>202608</c:v>
                </c:pt>
                <c:pt idx="4">
                  <c:v>202609</c:v>
                </c:pt>
                <c:pt idx="5">
                  <c:v>202610</c:v>
                </c:pt>
                <c:pt idx="6">
                  <c:v>202611</c:v>
                </c:pt>
                <c:pt idx="7">
                  <c:v>202612</c:v>
                </c:pt>
              </c:numCache>
            </c:numRef>
          </c:cat>
          <c:val>
            <c:numRef>
              <c:f>Sheet1!$B$4:$I$4</c:f>
              <c:numCache>
                <c:formatCode>General</c:formatCode>
                <c:ptCount val="8"/>
                <c:pt idx="0" formatCode="0.0%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48D-43EC-859E-B0B99B1B38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52813039"/>
        <c:axId val="652674415"/>
      </c:lineChart>
      <c:catAx>
        <c:axId val="5947273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653086783"/>
        <c:crosses val="autoZero"/>
        <c:auto val="1"/>
        <c:lblAlgn val="ctr"/>
        <c:lblOffset val="100"/>
        <c:noMultiLvlLbl val="0"/>
      </c:catAx>
      <c:valAx>
        <c:axId val="65308678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594727343"/>
        <c:crosses val="autoZero"/>
        <c:crossBetween val="between"/>
      </c:valAx>
      <c:valAx>
        <c:axId val="652674415"/>
        <c:scaling>
          <c:orientation val="minMax"/>
          <c:max val="1"/>
        </c:scaling>
        <c:delete val="0"/>
        <c:axPos val="r"/>
        <c:numFmt formatCode="0.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652813039"/>
        <c:crosses val="max"/>
        <c:crossBetween val="between"/>
      </c:valAx>
      <c:catAx>
        <c:axId val="652813039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6526744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38338188881005314"/>
          <c:y val="2.5509000014084231E-2"/>
          <c:w val="0.378279905091705"/>
          <c:h val="0.154972894669313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6415090510593391E-2"/>
          <c:y val="5.342563429571303E-2"/>
          <c:w val="0.94263363754889173"/>
          <c:h val="0.84344098987102245"/>
        </c:manualLayout>
      </c:layout>
      <c:barChart>
        <c:barDir val="col"/>
        <c:grouping val="stacked"/>
        <c:varyColors val="0"/>
        <c:ser>
          <c:idx val="4"/>
          <c:order val="4"/>
          <c:tx>
            <c:strRef>
              <c:f>Sheet1!$A$6</c:f>
              <c:strCache>
                <c:ptCount val="1"/>
                <c:pt idx="0">
                  <c:v>不联动数量</c:v>
                </c:pt>
              </c:strCache>
            </c:strRef>
          </c:tx>
          <c:spPr>
            <a:noFill/>
            <a:ln w="19050"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Sheet1!$B$1:$I$1</c:f>
              <c:numCache>
                <c:formatCode>General</c:formatCode>
                <c:ptCount val="8"/>
                <c:pt idx="0">
                  <c:v>202605</c:v>
                </c:pt>
                <c:pt idx="1">
                  <c:v>202606</c:v>
                </c:pt>
                <c:pt idx="2">
                  <c:v>202607</c:v>
                </c:pt>
                <c:pt idx="3">
                  <c:v>202608</c:v>
                </c:pt>
                <c:pt idx="4">
                  <c:v>202609</c:v>
                </c:pt>
                <c:pt idx="5">
                  <c:v>202610</c:v>
                </c:pt>
                <c:pt idx="6">
                  <c:v>202611</c:v>
                </c:pt>
                <c:pt idx="7">
                  <c:v>202612</c:v>
                </c:pt>
              </c:numCache>
            </c:numRef>
          </c:cat>
          <c:val>
            <c:numRef>
              <c:f>Sheet1!$B$6:$I$6</c:f>
              <c:numCache>
                <c:formatCode>General</c:formatCode>
                <c:ptCount val="8"/>
                <c:pt idx="0">
                  <c:v>2114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54-4A01-A9F9-6582D6DCEFF0}"/>
            </c:ext>
          </c:extLst>
        </c:ser>
        <c:ser>
          <c:idx val="5"/>
          <c:order val="5"/>
          <c:tx>
            <c:strRef>
              <c:f>Sheet1!$A$7</c:f>
              <c:strCache>
                <c:ptCount val="1"/>
                <c:pt idx="0">
                  <c:v>推进中</c:v>
                </c:pt>
              </c:strCache>
            </c:strRef>
          </c:tx>
          <c:spPr>
            <a:solidFill>
              <a:schemeClr val="accent4"/>
            </a:solidFill>
            <a:ln w="19050">
              <a:solidFill>
                <a:srgbClr val="FFC000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Sheet1!$B$1:$I$1</c:f>
              <c:numCache>
                <c:formatCode>General</c:formatCode>
                <c:ptCount val="8"/>
                <c:pt idx="0">
                  <c:v>202605</c:v>
                </c:pt>
                <c:pt idx="1">
                  <c:v>202606</c:v>
                </c:pt>
                <c:pt idx="2">
                  <c:v>202607</c:v>
                </c:pt>
                <c:pt idx="3">
                  <c:v>202608</c:v>
                </c:pt>
                <c:pt idx="4">
                  <c:v>202609</c:v>
                </c:pt>
                <c:pt idx="5">
                  <c:v>202610</c:v>
                </c:pt>
                <c:pt idx="6">
                  <c:v>202611</c:v>
                </c:pt>
                <c:pt idx="7">
                  <c:v>202612</c:v>
                </c:pt>
              </c:numCache>
            </c:numRef>
          </c:cat>
          <c:val>
            <c:numRef>
              <c:f>Sheet1!$B$7:$I$7</c:f>
              <c:numCache>
                <c:formatCode>General</c:formatCode>
                <c:ptCount val="8"/>
                <c:pt idx="0">
                  <c:v>160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654-4A01-A9F9-6582D6DCEF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228297423"/>
        <c:axId val="1059962031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Sheet1!$A$2</c15:sqref>
                        </c15:formulaRef>
                      </c:ext>
                    </c:extLst>
                    <c:strCache>
                      <c:ptCount val="1"/>
                      <c:pt idx="0">
                        <c:v>应联动项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cat>
                  <c:numRef>
                    <c:extLst>
                      <c:ext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202605</c:v>
                      </c:pt>
                      <c:pt idx="1">
                        <c:v>202606</c:v>
                      </c:pt>
                      <c:pt idx="2">
                        <c:v>202607</c:v>
                      </c:pt>
                      <c:pt idx="3">
                        <c:v>202608</c:v>
                      </c:pt>
                      <c:pt idx="4">
                        <c:v>202609</c:v>
                      </c:pt>
                      <c:pt idx="5">
                        <c:v>202610</c:v>
                      </c:pt>
                      <c:pt idx="6">
                        <c:v>202611</c:v>
                      </c:pt>
                      <c:pt idx="7">
                        <c:v>202612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Sheet1!$B$2:$I$2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1207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8654-4A01-A9F9-6582D6DCEFF0}"/>
                  </c:ext>
                </c:extLst>
              </c15:ser>
            </c15:filteredBarSeries>
            <c15:filteredBa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Sheet1!$A$3</c15:sqref>
                        </c15:formulaRef>
                      </c:ext>
                    </c:extLst>
                    <c:strCache>
                      <c:ptCount val="1"/>
                      <c:pt idx="0">
                        <c:v>输机未联动项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202605</c:v>
                      </c:pt>
                      <c:pt idx="1">
                        <c:v>202606</c:v>
                      </c:pt>
                      <c:pt idx="2">
                        <c:v>202607</c:v>
                      </c:pt>
                      <c:pt idx="3">
                        <c:v>202608</c:v>
                      </c:pt>
                      <c:pt idx="4">
                        <c:v>202609</c:v>
                      </c:pt>
                      <c:pt idx="5">
                        <c:v>202610</c:v>
                      </c:pt>
                      <c:pt idx="6">
                        <c:v>202611</c:v>
                      </c:pt>
                      <c:pt idx="7">
                        <c:v>202612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Sheet1!$B$3:$I$3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8654-4A01-A9F9-6582D6DCEFF0}"/>
                  </c:ext>
                </c:extLst>
              </c15:ser>
            </c15:filteredBarSeries>
            <c15:filteredBa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Sheet1!$A$4</c15:sqref>
                        </c15:formulaRef>
                      </c:ext>
                    </c:extLst>
                    <c:strCache>
                      <c:ptCount val="1"/>
                      <c:pt idx="0">
                        <c:v>联动率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202605</c:v>
                      </c:pt>
                      <c:pt idx="1">
                        <c:v>202606</c:v>
                      </c:pt>
                      <c:pt idx="2">
                        <c:v>202607</c:v>
                      </c:pt>
                      <c:pt idx="3">
                        <c:v>202608</c:v>
                      </c:pt>
                      <c:pt idx="4">
                        <c:v>202609</c:v>
                      </c:pt>
                      <c:pt idx="5">
                        <c:v>202610</c:v>
                      </c:pt>
                      <c:pt idx="6">
                        <c:v>202611</c:v>
                      </c:pt>
                      <c:pt idx="7">
                        <c:v>202612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Sheet1!$B$4:$I$4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 formatCode="0.0%">
                        <c:v>1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8654-4A01-A9F9-6582D6DCEFF0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Sheet1!$A$5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4"/>
                  </a:solidFill>
                  <a:ln>
                    <a:noFill/>
                  </a:ln>
                  <a:effectLst/>
                </c:spPr>
                <c:invertIfNegative val="0"/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Sheet1!$B$1:$I$1</c15:sqref>
                        </c15:formulaRef>
                      </c:ext>
                    </c:extLst>
                    <c:numCache>
                      <c:formatCode>General</c:formatCode>
                      <c:ptCount val="8"/>
                      <c:pt idx="0">
                        <c:v>202605</c:v>
                      </c:pt>
                      <c:pt idx="1">
                        <c:v>202606</c:v>
                      </c:pt>
                      <c:pt idx="2">
                        <c:v>202607</c:v>
                      </c:pt>
                      <c:pt idx="3">
                        <c:v>202608</c:v>
                      </c:pt>
                      <c:pt idx="4">
                        <c:v>202609</c:v>
                      </c:pt>
                      <c:pt idx="5">
                        <c:v>202610</c:v>
                      </c:pt>
                      <c:pt idx="6">
                        <c:v>202611</c:v>
                      </c:pt>
                      <c:pt idx="7">
                        <c:v>202612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Sheet1!$B$5:$I$5</c15:sqref>
                        </c15:formulaRef>
                      </c:ext>
                    </c:extLst>
                    <c:numCache>
                      <c:formatCode>General</c:formatCode>
                      <c:ptCount val="8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8654-4A01-A9F9-6582D6DCEFF0}"/>
                  </c:ext>
                </c:extLst>
              </c15:ser>
            </c15:filteredBarSeries>
          </c:ext>
        </c:extLst>
      </c:barChart>
      <c:catAx>
        <c:axId val="1228297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1059962031"/>
        <c:crosses val="autoZero"/>
        <c:auto val="1"/>
        <c:lblAlgn val="ctr"/>
        <c:lblOffset val="100"/>
        <c:noMultiLvlLbl val="0"/>
      </c:catAx>
      <c:valAx>
        <c:axId val="1059962031"/>
        <c:scaling>
          <c:orientation val="minMax"/>
          <c:min val="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12282974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5641757948444192"/>
          <c:y val="6.2332202262058052E-2"/>
          <c:w val="0.28383411802906078"/>
          <c:h val="9.375065616797902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FB527DD1-8350-42FB-939F-74541311729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D002200-5BEF-4140-B2B6-0DDE9C24302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233B65-48B8-43BE-BAA8-6D74CF5CF7AB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2CB322C-3C0B-4FF8-9E76-3451251F75F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C4A86D9-C0C6-4C43-A98A-0298F6D09CE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493E26-5E22-4484-85F3-F52B572748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360833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8FF207-D3E9-4D14-8C23-39F7D787DCCB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3E55C9-CCD1-4DD7-A12F-641EB0BF12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842217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436396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A7E1E2E-1E4F-4872-8DC8-BB4A75B3F72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A7E1E2E-1E4F-4872-8DC8-BB4A75B3F72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A7E1E2E-1E4F-4872-8DC8-BB4A75B3F72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A7E1E2E-1E4F-4872-8DC8-BB4A75B3F72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封面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t="278" b="1"/>
          <a:stretch>
            <a:fillRect/>
          </a:stretch>
        </p:blipFill>
        <p:spPr>
          <a:xfrm>
            <a:off x="2548" y="0"/>
            <a:ext cx="12186903" cy="6858000"/>
          </a:xfrm>
          <a:prstGeom prst="rect">
            <a:avLst/>
          </a:prstGeom>
          <a:ln>
            <a:noFill/>
          </a:ln>
        </p:spPr>
      </p:pic>
      <p:sp>
        <p:nvSpPr>
          <p:cNvPr id="5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1701114" y="2710340"/>
            <a:ext cx="8789772" cy="875344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FontTx/>
              <a:buNone/>
              <a:defRPr lang="zh-CN" altLang="en-US" sz="3400" b="1" kern="1200" spc="500" baseline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 sz="3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marL="0" lv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Tx/>
              <a:buNone/>
            </a:pPr>
            <a:r>
              <a:rPr lang="zh-CN" altLang="en-US"/>
              <a:t>编辑母版文本样式</a:t>
            </a:r>
          </a:p>
        </p:txBody>
      </p:sp>
      <p:sp>
        <p:nvSpPr>
          <p:cNvPr id="6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3727620" y="4899303"/>
            <a:ext cx="4736756" cy="87534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lang="zh-CN" altLang="en-US" sz="1200" b="0" i="0" kern="1200" spc="300" dirty="0">
                <a:solidFill>
                  <a:schemeClr val="tx2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  <a:lvl2pPr marL="457200" indent="0">
              <a:buNone/>
              <a:defRPr sz="2000" b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marL="0" lvl="0" indent="0" algn="ctr" rtl="0" eaLnBrk="0" fontAlgn="base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80604020202020204" pitchFamily="34" charset="0"/>
              <a:buNone/>
            </a:pPr>
            <a:r>
              <a:rPr lang="zh-CN" altLang="en-US"/>
              <a:t>编辑母版文本样式</a:t>
            </a:r>
          </a:p>
        </p:txBody>
      </p:sp>
      <p:cxnSp>
        <p:nvCxnSpPr>
          <p:cNvPr id="7" name="直线连接符 6"/>
          <p:cNvCxnSpPr/>
          <p:nvPr/>
        </p:nvCxnSpPr>
        <p:spPr>
          <a:xfrm>
            <a:off x="5483998" y="3926689"/>
            <a:ext cx="122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3970" y="786130"/>
            <a:ext cx="1831975" cy="43751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92B7F3B-1696-4E84-88BB-DF50BF576B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78" b="1"/>
          <a:stretch>
            <a:fillRect/>
          </a:stretch>
        </p:blipFill>
        <p:spPr>
          <a:xfrm>
            <a:off x="2548" y="0"/>
            <a:ext cx="12186903" cy="6858000"/>
          </a:xfrm>
          <a:prstGeom prst="rect">
            <a:avLst/>
          </a:prstGeom>
          <a:ln>
            <a:noFill/>
          </a:ln>
        </p:spPr>
      </p:pic>
      <p:cxnSp>
        <p:nvCxnSpPr>
          <p:cNvPr id="9" name="直线连接符 6">
            <a:extLst>
              <a:ext uri="{FF2B5EF4-FFF2-40B4-BE49-F238E27FC236}">
                <a16:creationId xmlns:a16="http://schemas.microsoft.com/office/drawing/2014/main" id="{F7FD9ED9-B69A-45B3-919D-B3F0B7D70E20}"/>
              </a:ext>
            </a:extLst>
          </p:cNvPr>
          <p:cNvCxnSpPr/>
          <p:nvPr userDrawn="1"/>
        </p:nvCxnSpPr>
        <p:spPr>
          <a:xfrm>
            <a:off x="5483998" y="3926689"/>
            <a:ext cx="122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70068954-0C28-4FE2-ADF3-8FF4AF2C078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93970" y="786130"/>
            <a:ext cx="1831975" cy="437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476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2" cstate="hqprint"/>
          <a:srcRect l="-2" r="17690"/>
          <a:stretch>
            <a:fillRect/>
          </a:stretch>
        </p:blipFill>
        <p:spPr>
          <a:xfrm rot="5400000">
            <a:off x="5953760" y="635527"/>
            <a:ext cx="284477" cy="12192002"/>
          </a:xfrm>
          <a:prstGeom prst="rect">
            <a:avLst/>
          </a:prstGeom>
        </p:spPr>
      </p:pic>
      <p:cxnSp>
        <p:nvCxnSpPr>
          <p:cNvPr id="8" name="直线连接符 14"/>
          <p:cNvCxnSpPr/>
          <p:nvPr/>
        </p:nvCxnSpPr>
        <p:spPr>
          <a:xfrm>
            <a:off x="443370" y="693298"/>
            <a:ext cx="2577627" cy="0"/>
          </a:xfrm>
          <a:prstGeom prst="line">
            <a:avLst/>
          </a:prstGeom>
          <a:ln w="9525">
            <a:solidFill>
              <a:srgbClr val="0092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15"/>
          <p:cNvCxnSpPr/>
          <p:nvPr/>
        </p:nvCxnSpPr>
        <p:spPr>
          <a:xfrm>
            <a:off x="3123385" y="693298"/>
            <a:ext cx="1440000" cy="0"/>
          </a:xfrm>
          <a:prstGeom prst="line">
            <a:avLst/>
          </a:prstGeom>
          <a:ln w="9525">
            <a:solidFill>
              <a:srgbClr val="F7CE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线连接符 16"/>
          <p:cNvCxnSpPr/>
          <p:nvPr/>
        </p:nvCxnSpPr>
        <p:spPr>
          <a:xfrm>
            <a:off x="4574307" y="693298"/>
            <a:ext cx="7183801" cy="0"/>
          </a:xfrm>
          <a:prstGeom prst="line">
            <a:avLst/>
          </a:prstGeom>
          <a:ln w="9525">
            <a:solidFill>
              <a:srgbClr val="2327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灯片编号占位符 1"/>
          <p:cNvSpPr>
            <a:spLocks noGrp="1"/>
          </p:cNvSpPr>
          <p:nvPr>
            <p:ph type="sldNum" sz="quarter" idx="18"/>
          </p:nvPr>
        </p:nvSpPr>
        <p:spPr>
          <a:xfrm>
            <a:off x="11528752" y="6574934"/>
            <a:ext cx="516511" cy="223177"/>
          </a:xfrm>
          <a:prstGeom prst="rect">
            <a:avLst/>
          </a:prstGeom>
        </p:spPr>
        <p:txBody>
          <a:bodyPr wrap="square" numCol="1" anchor="ctr" anchorCtr="0" compatLnSpc="1"/>
          <a:lstStyle>
            <a:lvl1pPr algn="ctr">
              <a:defRPr sz="600" b="0" i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fld id="{3687A163-1E83-4AFB-B5AD-25DD46CEF63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3175" y="231775"/>
            <a:ext cx="1614170" cy="38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11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尾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8" y="0"/>
            <a:ext cx="12186903" cy="6858000"/>
          </a:xfrm>
          <a:prstGeom prst="rect">
            <a:avLst/>
          </a:prstGeom>
        </p:spPr>
      </p:pic>
      <p:sp>
        <p:nvSpPr>
          <p:cNvPr id="5" name="文本占位符 2"/>
          <p:cNvSpPr>
            <a:spLocks noGrp="1"/>
          </p:cNvSpPr>
          <p:nvPr>
            <p:ph type="body" sz="quarter" idx="12" hasCustomPrompt="1"/>
          </p:nvPr>
        </p:nvSpPr>
        <p:spPr>
          <a:xfrm>
            <a:off x="1714672" y="2803006"/>
            <a:ext cx="8789772" cy="875344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FontTx/>
              <a:buNone/>
              <a:defRPr sz="4000" b="0" spc="500" baseline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3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lvl="0"/>
            <a:r>
              <a:rPr lang="en-US" altLang="zh-CN" dirty="0"/>
              <a:t>THANKS!</a:t>
            </a:r>
            <a:endParaRPr lang="zh-CN" altLang="en-US" dirty="0"/>
          </a:p>
        </p:txBody>
      </p:sp>
      <p:cxnSp>
        <p:nvCxnSpPr>
          <p:cNvPr id="6" name="直线连接符 6"/>
          <p:cNvCxnSpPr/>
          <p:nvPr/>
        </p:nvCxnSpPr>
        <p:spPr>
          <a:xfrm>
            <a:off x="5659558" y="3702871"/>
            <a:ext cx="900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712"/>
          <a:stretch>
            <a:fillRect/>
          </a:stretch>
        </p:blipFill>
        <p:spPr>
          <a:xfrm>
            <a:off x="5235792" y="5974914"/>
            <a:ext cx="1753732" cy="242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073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2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63"/>
          <a:stretch>
            <a:fillRect/>
          </a:stretch>
        </p:blipFill>
        <p:spPr bwMode="auto">
          <a:xfrm>
            <a:off x="0" y="0"/>
            <a:ext cx="12192000" cy="683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 userDrawn="1"/>
        </p:nvSpPr>
        <p:spPr>
          <a:xfrm>
            <a:off x="8688288" y="116632"/>
            <a:ext cx="2976331" cy="476672"/>
          </a:xfrm>
          <a:prstGeom prst="rect">
            <a:avLst/>
          </a:prstGeom>
          <a:solidFill>
            <a:srgbClr val="E9E8E7"/>
          </a:solidFill>
          <a:ln w="127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pic>
        <p:nvPicPr>
          <p:cNvPr id="5" name="Picture 2" descr="C:\Users\admin\Desktop\1572260972ff6cfd161604a465b9aff7.png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133" b="-28942"/>
          <a:stretch>
            <a:fillRect/>
          </a:stretch>
        </p:blipFill>
        <p:spPr bwMode="auto">
          <a:xfrm>
            <a:off x="8816453" y="191068"/>
            <a:ext cx="3055264" cy="525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0925472" y="6566446"/>
            <a:ext cx="1219200" cy="284163"/>
          </a:xfrm>
        </p:spPr>
        <p:txBody>
          <a:bodyPr/>
          <a:lstStyle>
            <a:lvl1pPr algn="ctr">
              <a:defRPr/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fld id="{B9F93F6C-7BB6-4B36-91AA-10EEC0F54BF4}" type="slidenum">
              <a:rPr lang="en-US" altLang="zh-CN" smtClean="0"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32887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57BEBBC-1F10-4FA0-8AAE-F58B792E54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-1812242" y="1531654"/>
            <a:ext cx="1457521" cy="3388746"/>
            <a:chOff x="-1359182" y="1531654"/>
            <a:chExt cx="1093141" cy="3388746"/>
          </a:xfrm>
        </p:grpSpPr>
        <p:sp>
          <p:nvSpPr>
            <p:cNvPr id="8" name="矩形 7"/>
            <p:cNvSpPr/>
            <p:nvPr userDrawn="1"/>
          </p:nvSpPr>
          <p:spPr bwMode="auto">
            <a:xfrm>
              <a:off x="-1346041" y="1968072"/>
              <a:ext cx="1080000" cy="360040"/>
            </a:xfrm>
            <a:prstGeom prst="rect">
              <a:avLst/>
            </a:prstGeom>
            <a:solidFill>
              <a:srgbClr val="37609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55/96/146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矩形 8"/>
            <p:cNvSpPr/>
            <p:nvPr userDrawn="1"/>
          </p:nvSpPr>
          <p:spPr bwMode="auto">
            <a:xfrm>
              <a:off x="-1346041" y="2404490"/>
              <a:ext cx="1080000" cy="360040"/>
            </a:xfrm>
            <a:prstGeom prst="rect">
              <a:avLst/>
            </a:prstGeom>
            <a:solidFill>
              <a:srgbClr val="00336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0/51/102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" name="矩形 9"/>
            <p:cNvSpPr/>
            <p:nvPr userDrawn="1"/>
          </p:nvSpPr>
          <p:spPr bwMode="auto">
            <a:xfrm>
              <a:off x="-1346041" y="2840908"/>
              <a:ext cx="1080000" cy="360040"/>
            </a:xfrm>
            <a:prstGeom prst="rect">
              <a:avLst/>
            </a:prstGeom>
            <a:solidFill>
              <a:srgbClr val="C0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192/0/0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" name="矩形 10"/>
            <p:cNvSpPr/>
            <p:nvPr userDrawn="1"/>
          </p:nvSpPr>
          <p:spPr bwMode="auto">
            <a:xfrm>
              <a:off x="-1346041" y="3277326"/>
              <a:ext cx="1080000" cy="360040"/>
            </a:xfrm>
            <a:prstGeom prst="rect">
              <a:avLst/>
            </a:prstGeom>
            <a:solidFill>
              <a:srgbClr val="0086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0/134/0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" name="矩形 11"/>
            <p:cNvSpPr/>
            <p:nvPr userDrawn="1"/>
          </p:nvSpPr>
          <p:spPr bwMode="auto">
            <a:xfrm>
              <a:off x="-1346041" y="3713744"/>
              <a:ext cx="1080000" cy="360040"/>
            </a:xfrm>
            <a:prstGeom prst="rect">
              <a:avLst/>
            </a:prstGeom>
            <a:solidFill>
              <a:srgbClr val="E46C0A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228/108/10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" name="TextBox 17"/>
            <p:cNvSpPr txBox="1"/>
            <p:nvPr userDrawn="1"/>
          </p:nvSpPr>
          <p:spPr>
            <a:xfrm>
              <a:off x="-1359182" y="1531654"/>
              <a:ext cx="1008000" cy="36004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深色系</a:t>
              </a:r>
            </a:p>
          </p:txBody>
        </p:sp>
        <p:sp>
          <p:nvSpPr>
            <p:cNvPr id="14" name="矩形 13"/>
            <p:cNvSpPr/>
            <p:nvPr userDrawn="1"/>
          </p:nvSpPr>
          <p:spPr bwMode="auto">
            <a:xfrm>
              <a:off x="-1346041" y="4128312"/>
              <a:ext cx="1080000" cy="360040"/>
            </a:xfrm>
            <a:prstGeom prst="rect">
              <a:avLst/>
            </a:prstGeom>
            <a:solidFill>
              <a:srgbClr val="8064A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128/100/162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" name="矩形 14"/>
            <p:cNvSpPr/>
            <p:nvPr userDrawn="1"/>
          </p:nvSpPr>
          <p:spPr bwMode="auto">
            <a:xfrm>
              <a:off x="-1346041" y="4560360"/>
              <a:ext cx="1080000" cy="360040"/>
            </a:xfrm>
            <a:prstGeom prst="rect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0/112/192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12529097" y="1531654"/>
            <a:ext cx="1469379" cy="2537760"/>
            <a:chOff x="9396823" y="1531654"/>
            <a:chExt cx="1102034" cy="2537760"/>
          </a:xfrm>
        </p:grpSpPr>
        <p:sp>
          <p:nvSpPr>
            <p:cNvPr id="17" name="矩形 16"/>
            <p:cNvSpPr/>
            <p:nvPr userDrawn="1"/>
          </p:nvSpPr>
          <p:spPr bwMode="auto">
            <a:xfrm>
              <a:off x="9418857" y="1963702"/>
              <a:ext cx="1080000" cy="360040"/>
            </a:xfrm>
            <a:prstGeom prst="rect">
              <a:avLst/>
            </a:prstGeom>
            <a:solidFill>
              <a:srgbClr val="BFBFB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191/191/191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" name="矩形 17"/>
            <p:cNvSpPr/>
            <p:nvPr userDrawn="1"/>
          </p:nvSpPr>
          <p:spPr bwMode="auto">
            <a:xfrm>
              <a:off x="9418857" y="2400120"/>
              <a:ext cx="1080000" cy="360040"/>
            </a:xfrm>
            <a:prstGeom prst="rect">
              <a:avLst/>
            </a:prstGeom>
            <a:solidFill>
              <a:srgbClr val="95B3D7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149/179/215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矩形 18"/>
            <p:cNvSpPr/>
            <p:nvPr userDrawn="1"/>
          </p:nvSpPr>
          <p:spPr bwMode="auto">
            <a:xfrm>
              <a:off x="9418857" y="2836538"/>
              <a:ext cx="1080000" cy="360040"/>
            </a:xfrm>
            <a:prstGeom prst="rect">
              <a:avLst/>
            </a:prstGeom>
            <a:solidFill>
              <a:srgbClr val="B7DEE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183/222/232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矩形 19"/>
            <p:cNvSpPr/>
            <p:nvPr userDrawn="1"/>
          </p:nvSpPr>
          <p:spPr bwMode="auto">
            <a:xfrm>
              <a:off x="9418857" y="3272956"/>
              <a:ext cx="1080000" cy="360040"/>
            </a:xfrm>
            <a:prstGeom prst="rect">
              <a:avLst/>
            </a:prstGeom>
            <a:solidFill>
              <a:srgbClr val="DCE6F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220/230/242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TextBox 18"/>
            <p:cNvSpPr txBox="1"/>
            <p:nvPr userDrawn="1"/>
          </p:nvSpPr>
          <p:spPr>
            <a:xfrm>
              <a:off x="9396823" y="1531654"/>
              <a:ext cx="1008000" cy="36004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浅色系</a:t>
              </a:r>
            </a:p>
          </p:txBody>
        </p:sp>
        <p:sp>
          <p:nvSpPr>
            <p:cNvPr id="22" name="矩形 21"/>
            <p:cNvSpPr/>
            <p:nvPr userDrawn="1"/>
          </p:nvSpPr>
          <p:spPr bwMode="auto">
            <a:xfrm>
              <a:off x="9418857" y="3709374"/>
              <a:ext cx="1080000" cy="360040"/>
            </a:xfrm>
            <a:prstGeom prst="rect">
              <a:avLst/>
            </a:prstGeom>
            <a:solidFill>
              <a:srgbClr val="BFBFF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191/191/242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3" name="组合 22"/>
          <p:cNvGrpSpPr/>
          <p:nvPr userDrawn="1"/>
        </p:nvGrpSpPr>
        <p:grpSpPr>
          <a:xfrm>
            <a:off x="1244753" y="-782121"/>
            <a:ext cx="9894538" cy="8796462"/>
            <a:chOff x="1244753" y="-782121"/>
            <a:chExt cx="9894538" cy="8796462"/>
          </a:xfrm>
        </p:grpSpPr>
        <p:sp>
          <p:nvSpPr>
            <p:cNvPr id="24" name="文本框 23"/>
            <p:cNvSpPr txBox="1"/>
            <p:nvPr userDrawn="1"/>
          </p:nvSpPr>
          <p:spPr>
            <a:xfrm rot="2820048">
              <a:off x="5888162" y="3702770"/>
              <a:ext cx="494968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85000"/>
                    </a:prstClr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cs"/>
                </a:rPr>
                <a:t>内部资料，请控制使用范围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endParaRPr>
            </a:p>
          </p:txBody>
        </p:sp>
        <p:sp>
          <p:nvSpPr>
            <p:cNvPr id="25" name="文本框 24"/>
            <p:cNvSpPr txBox="1"/>
            <p:nvPr userDrawn="1"/>
          </p:nvSpPr>
          <p:spPr>
            <a:xfrm rot="2820048">
              <a:off x="8202782" y="1231058"/>
              <a:ext cx="494968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85000"/>
                    </a:prstClr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cs"/>
                </a:rPr>
                <a:t>内部资料，请控制使用范围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endParaRPr>
            </a:p>
          </p:txBody>
        </p:sp>
        <p:sp>
          <p:nvSpPr>
            <p:cNvPr id="26" name="文本框 25"/>
            <p:cNvSpPr txBox="1"/>
            <p:nvPr userDrawn="1"/>
          </p:nvSpPr>
          <p:spPr>
            <a:xfrm rot="2820048">
              <a:off x="903655" y="1422074"/>
              <a:ext cx="494968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85000"/>
                    </a:prstClr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cs"/>
                </a:rPr>
                <a:t>内部资料，请控制使用范围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endParaRPr>
            </a:p>
          </p:txBody>
        </p:sp>
        <p:sp>
          <p:nvSpPr>
            <p:cNvPr id="27" name="文本框 26"/>
            <p:cNvSpPr txBox="1"/>
            <p:nvPr userDrawn="1"/>
          </p:nvSpPr>
          <p:spPr>
            <a:xfrm rot="2820048">
              <a:off x="-768426" y="5077833"/>
              <a:ext cx="494968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85000"/>
                    </a:prstClr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cs"/>
                </a:rPr>
                <a:t>内部资料，请控制使用范围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69053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3" r:id="rId2"/>
    <p:sldLayoutId id="2147483675" r:id="rId3"/>
    <p:sldLayoutId id="2147483676" r:id="rId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dongfengyipai.feishu.cn/drive/folder/OOPqfWwGZlyhpOd3PwGc4Cf4nzd?from=from_copylin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ngfengyipai.feishu.cn/sheets/QzjCsE7WbhhhgQtlEVVcwe4unLf?from=from_copylink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hyperlink" Target="https://dongfengyipai.feishu.cn/sheets/HN2sspGeJhKIs6tHrBBchwnBn2f?from=from_copylink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ngfengyipai.feishu.cn/sheets/YR84sG2n2hGo2ftfFAOcK6jBnCc?from=from_copylink" TargetMode="External"/><Relationship Id="rId4" Type="http://schemas.openxmlformats.org/officeDocument/2006/relationships/hyperlink" Target="https://dongfengyipai.feishu.cn/base/RsWBbq3a5amUMBsEYsacvZ88nWd?from=from_copylink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dongfengyipai.feishu.cn/share/base/dashboard/shrcnNdueJ5yJ9LGB6uUNidtjhe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2779630"/>
            <a:ext cx="12192000" cy="1069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800" b="1" dirty="0">
                <a:solidFill>
                  <a:prstClr val="black"/>
                </a:solidFill>
                <a:latin typeface="微软雅黑"/>
                <a:ea typeface="微软雅黑"/>
              </a:rPr>
              <a:t>采购商务合规工作双周报</a:t>
            </a:r>
            <a:endParaRPr lang="en-US" altLang="zh-CN" sz="4800" b="1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79818" y="4301298"/>
            <a:ext cx="2632364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29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FA718A6-48A2-4CD6-9590-92EABE80CF81}"/>
              </a:ext>
            </a:extLst>
          </p:cNvPr>
          <p:cNvSpPr/>
          <p:nvPr/>
        </p:nvSpPr>
        <p:spPr>
          <a:xfrm>
            <a:off x="4946395" y="4946287"/>
            <a:ext cx="26323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飞书共享：合规双周报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1"/>
          <p:cNvSpPr txBox="1"/>
          <p:nvPr/>
        </p:nvSpPr>
        <p:spPr>
          <a:xfrm>
            <a:off x="329162" y="111410"/>
            <a:ext cx="1076055" cy="552450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目录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395817" y="1084640"/>
            <a:ext cx="9316378" cy="468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200000"/>
              </a:lnSpc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PLS/EPS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物流方式一致性</a:t>
            </a:r>
            <a:endParaRPr lang="en-US" altLang="zh-CN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200000"/>
              </a:lnSpc>
              <a:defRPr/>
            </a:pP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11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物流方式不一致点检</a:t>
            </a:r>
            <a:endParaRPr lang="en-US" altLang="zh-CN" sz="11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200000"/>
              </a:lnSpc>
              <a:defRPr/>
            </a:pP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二、备件输机检查</a:t>
            </a:r>
            <a:endParaRPr lang="en-US" altLang="zh-CN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defRPr/>
            </a:pPr>
            <a:r>
              <a:rPr lang="zh-CN" altLang="en-US" sz="11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备件输机高于同期量产件裸价检查</a:t>
            </a:r>
            <a:endParaRPr lang="en-US" altLang="zh-CN" sz="11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200000"/>
              </a:lnSpc>
              <a:defRPr/>
            </a:pPr>
            <a:r>
              <a:rPr lang="zh-CN" altLang="en-US" sz="11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不联动清单（含推进中）</a:t>
            </a:r>
            <a:r>
              <a:rPr lang="en-US" altLang="zh-CN" sz="11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1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备件输机联动标识点检</a:t>
            </a:r>
            <a:endParaRPr lang="en-US" altLang="zh-CN" sz="11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200000"/>
              </a:lnSpc>
              <a:defRPr/>
            </a:pP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三、商折函回收点检</a:t>
            </a:r>
            <a:endParaRPr lang="en-US" altLang="zh-CN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  <a:defRPr/>
            </a:pPr>
            <a:r>
              <a:rPr lang="zh-CN" altLang="en-US" sz="11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新增商折函点检</a:t>
            </a:r>
            <a:r>
              <a:rPr lang="en-US" altLang="zh-CN" sz="11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(2025.4.1</a:t>
            </a:r>
            <a:r>
              <a:rPr lang="zh-CN" altLang="en-US" sz="11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及之后创建</a:t>
            </a:r>
            <a:r>
              <a:rPr lang="en-US" altLang="zh-CN" sz="11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lvl="0">
              <a:lnSpc>
                <a:spcPct val="200000"/>
              </a:lnSpc>
              <a:defRPr/>
            </a:pP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四、同件不同价</a:t>
            </a:r>
            <a:endParaRPr lang="en-US" altLang="zh-CN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200000"/>
              </a:lnSpc>
              <a:defRPr/>
            </a:pP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五、二类投资</a:t>
            </a:r>
            <a:endParaRPr lang="en-US" altLang="zh-CN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200000"/>
              </a:lnSpc>
              <a:defRPr/>
            </a:pPr>
            <a:r>
              <a:rPr lang="en-US" altLang="zh-CN" sz="11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zh-CN" altLang="en-US" sz="11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新项目首付款支付</a:t>
            </a:r>
            <a:endParaRPr lang="en-US" altLang="zh-CN" sz="11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200000"/>
              </a:lnSpc>
              <a:defRPr/>
            </a:pPr>
            <a:r>
              <a:rPr lang="en-US" altLang="zh-CN" sz="11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zh-CN" altLang="en-US" sz="11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量</a:t>
            </a:r>
            <a:r>
              <a:rPr lang="zh-CN" altLang="en-US" sz="11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产项目尾款支付</a:t>
            </a:r>
            <a:endParaRPr lang="en-US" altLang="zh-CN" sz="11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7357BE-A404-4FA4-80A8-3C6C763E0757}"/>
              </a:ext>
            </a:extLst>
          </p:cNvPr>
          <p:cNvSpPr txBox="1">
            <a:spLocks/>
          </p:cNvSpPr>
          <p:nvPr/>
        </p:nvSpPr>
        <p:spPr>
          <a:xfrm>
            <a:off x="96939" y="267967"/>
            <a:ext cx="6854194" cy="341632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一、新增输机零件物流方式点检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9FED0AE-0A0F-4596-B147-9523A6FB2672}"/>
              </a:ext>
            </a:extLst>
          </p:cNvPr>
          <p:cNvSpPr txBox="1"/>
          <p:nvPr/>
        </p:nvSpPr>
        <p:spPr>
          <a:xfrm>
            <a:off x="269240" y="685684"/>
            <a:ext cx="8464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月新增生效量产零件</a:t>
            </a:r>
            <a:r>
              <a:rPr lang="en-US" altLang="zh-CN" sz="1400" b="1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4265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项，</a:t>
            </a:r>
            <a:r>
              <a:rPr lang="en-US" altLang="zh-CN" sz="1400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项物流方式与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PLS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不一致项，其中采购部需立行立改</a:t>
            </a:r>
            <a:r>
              <a:rPr lang="en-US" altLang="zh-CN" sz="1400" b="1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400" b="1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0E334AF-2708-4CCD-A3E5-E35B4C64FC5E}"/>
              </a:ext>
            </a:extLst>
          </p:cNvPr>
          <p:cNvSpPr/>
          <p:nvPr/>
        </p:nvSpPr>
        <p:spPr>
          <a:xfrm>
            <a:off x="177695" y="6550223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量产零件物流方式点检清单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_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汇总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D057DF3-3C3D-4A68-A1E4-F6AFAA522C06}"/>
              </a:ext>
            </a:extLst>
          </p:cNvPr>
          <p:cNvSpPr txBox="1"/>
          <p:nvPr/>
        </p:nvSpPr>
        <p:spPr>
          <a:xfrm>
            <a:off x="96939" y="3668445"/>
            <a:ext cx="6659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本期物流方式不一致清单（需采购部修订）：</a:t>
            </a:r>
          </a:p>
        </p:txBody>
      </p:sp>
      <p:graphicFrame>
        <p:nvGraphicFramePr>
          <p:cNvPr id="10" name="图表 9">
            <a:extLst>
              <a:ext uri="{FF2B5EF4-FFF2-40B4-BE49-F238E27FC236}">
                <a16:creationId xmlns:a16="http://schemas.microsoft.com/office/drawing/2014/main" id="{8ABC6A8B-60CC-49CD-9736-576B4009188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7023262"/>
              </p:ext>
            </p:extLst>
          </p:nvPr>
        </p:nvGraphicFramePr>
        <p:xfrm>
          <a:off x="204225" y="985841"/>
          <a:ext cx="11767377" cy="26826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F22887C-82FC-44B4-AC30-43F19B1F81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3489978"/>
              </p:ext>
            </p:extLst>
          </p:nvPr>
        </p:nvGraphicFramePr>
        <p:xfrm>
          <a:off x="269240" y="3976222"/>
          <a:ext cx="11637348" cy="2272179"/>
        </p:xfrm>
        <a:graphic>
          <a:graphicData uri="http://schemas.openxmlformats.org/drawingml/2006/table">
            <a:tbl>
              <a:tblPr/>
              <a:tblGrid>
                <a:gridCol w="929640">
                  <a:extLst>
                    <a:ext uri="{9D8B030D-6E8A-4147-A177-3AD203B41FA5}">
                      <a16:colId xmlns:a16="http://schemas.microsoft.com/office/drawing/2014/main" val="376076322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849274509"/>
                    </a:ext>
                  </a:extLst>
                </a:gridCol>
                <a:gridCol w="1700107">
                  <a:extLst>
                    <a:ext uri="{9D8B030D-6E8A-4147-A177-3AD203B41FA5}">
                      <a16:colId xmlns:a16="http://schemas.microsoft.com/office/drawing/2014/main" val="305269423"/>
                    </a:ext>
                  </a:extLst>
                </a:gridCol>
                <a:gridCol w="873383">
                  <a:extLst>
                    <a:ext uri="{9D8B030D-6E8A-4147-A177-3AD203B41FA5}">
                      <a16:colId xmlns:a16="http://schemas.microsoft.com/office/drawing/2014/main" val="4058586679"/>
                    </a:ext>
                  </a:extLst>
                </a:gridCol>
                <a:gridCol w="1530060">
                  <a:extLst>
                    <a:ext uri="{9D8B030D-6E8A-4147-A177-3AD203B41FA5}">
                      <a16:colId xmlns:a16="http://schemas.microsoft.com/office/drawing/2014/main" val="914469029"/>
                    </a:ext>
                  </a:extLst>
                </a:gridCol>
                <a:gridCol w="742809">
                  <a:extLst>
                    <a:ext uri="{9D8B030D-6E8A-4147-A177-3AD203B41FA5}">
                      <a16:colId xmlns:a16="http://schemas.microsoft.com/office/drawing/2014/main" val="632414057"/>
                    </a:ext>
                  </a:extLst>
                </a:gridCol>
                <a:gridCol w="780902">
                  <a:extLst>
                    <a:ext uri="{9D8B030D-6E8A-4147-A177-3AD203B41FA5}">
                      <a16:colId xmlns:a16="http://schemas.microsoft.com/office/drawing/2014/main" val="995423505"/>
                    </a:ext>
                  </a:extLst>
                </a:gridCol>
                <a:gridCol w="723763">
                  <a:extLst>
                    <a:ext uri="{9D8B030D-6E8A-4147-A177-3AD203B41FA5}">
                      <a16:colId xmlns:a16="http://schemas.microsoft.com/office/drawing/2014/main" val="3664051391"/>
                    </a:ext>
                  </a:extLst>
                </a:gridCol>
                <a:gridCol w="723763">
                  <a:extLst>
                    <a:ext uri="{9D8B030D-6E8A-4147-A177-3AD203B41FA5}">
                      <a16:colId xmlns:a16="http://schemas.microsoft.com/office/drawing/2014/main" val="3169968135"/>
                    </a:ext>
                  </a:extLst>
                </a:gridCol>
                <a:gridCol w="844390">
                  <a:extLst>
                    <a:ext uri="{9D8B030D-6E8A-4147-A177-3AD203B41FA5}">
                      <a16:colId xmlns:a16="http://schemas.microsoft.com/office/drawing/2014/main" val="3233852005"/>
                    </a:ext>
                  </a:extLst>
                </a:gridCol>
                <a:gridCol w="514253">
                  <a:extLst>
                    <a:ext uri="{9D8B030D-6E8A-4147-A177-3AD203B41FA5}">
                      <a16:colId xmlns:a16="http://schemas.microsoft.com/office/drawing/2014/main" val="3986051471"/>
                    </a:ext>
                  </a:extLst>
                </a:gridCol>
                <a:gridCol w="799949">
                  <a:extLst>
                    <a:ext uri="{9D8B030D-6E8A-4147-A177-3AD203B41FA5}">
                      <a16:colId xmlns:a16="http://schemas.microsoft.com/office/drawing/2014/main" val="2902073395"/>
                    </a:ext>
                  </a:extLst>
                </a:gridCol>
                <a:gridCol w="742809">
                  <a:extLst>
                    <a:ext uri="{9D8B030D-6E8A-4147-A177-3AD203B41FA5}">
                      <a16:colId xmlns:a16="http://schemas.microsoft.com/office/drawing/2014/main" val="2083106750"/>
                    </a:ext>
                  </a:extLst>
                </a:gridCol>
              </a:tblGrid>
              <a:tr h="324597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800" b="1" i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价格通知书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800" b="1" i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供应商编码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800" b="1" i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供应商名称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800" b="1" i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零件号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800" b="1" i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零件名称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800" b="1" i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EPS</a:t>
                      </a:r>
                      <a:r>
                        <a:rPr lang="zh-CN" altLang="en-US" sz="800" b="1" i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输机物流方式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800" b="1" i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物流费（元）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800" b="1" i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生效日期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800" b="1" i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失效日期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800" b="1" i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地区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800" b="1" i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创建人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800" b="1" i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实际物流方式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800" b="1" i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采购工程师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017305"/>
                  </a:ext>
                </a:extLst>
              </a:tr>
              <a:tr h="324597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8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CJ2605220017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8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680075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8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欣旺达动力科技股份有限公司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8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Z100058460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8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动力电池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8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自送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8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8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2026/02/01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8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2026/02/28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8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Wuhan/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8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彭琴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8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调达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8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陈逸飞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459624"/>
                  </a:ext>
                </a:extLst>
              </a:tr>
              <a:tr h="324597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8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X5000408PL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8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770134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8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武汉市东亚合成汽车部件有限公司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8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X5000408PL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8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背门下护板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新主色彩黑色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800" b="0" i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自送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800" b="0" i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9.76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8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2026/05/01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8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2026/12/31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800" b="0" i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Wuhan/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800" b="0" i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闵守卫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800" b="0" i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调达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800" b="0" i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落国慧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2761007"/>
                  </a:ext>
                </a:extLst>
              </a:tr>
              <a:tr h="324597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8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CJ2605190086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8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100025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8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湖北三环汽车电器有限公司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8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N1000999SQ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8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内开手柄堵盖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800" b="0" i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自送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800" b="0" i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8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2026/05/01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8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2026/12/31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800" b="0" i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Wuhan/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800" b="0" i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胡继泽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800" b="0" i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调达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800" b="0" i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阮琪晖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1588350"/>
                  </a:ext>
                </a:extLst>
              </a:tr>
              <a:tr h="324597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8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CJ2605190086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8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100025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8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湖北三环汽车电器有限公司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8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N1000999UY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8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内开手柄堵盖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800" b="0" i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自送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800" b="0" i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8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2026/05/01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8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2026/12/31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800" b="0" i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Wuhan/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800" b="0" i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胡继泽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800" b="0" i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调达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800" b="0" i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阮琪晖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5161834"/>
                  </a:ext>
                </a:extLst>
              </a:tr>
              <a:tr h="324597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8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CJ2605190086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8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100025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8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湖北三环汽车电器有限公司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8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N1001000SQ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8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内开手柄堵盖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800" b="0" i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自送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800" b="0" i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8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2026/05/01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8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2026/12/31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800" b="0" i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Wuhan/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800" b="0" i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胡继泽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800" b="0" i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调达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800" b="0" i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阮琪晖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6228614"/>
                  </a:ext>
                </a:extLst>
              </a:tr>
              <a:tr h="324597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800" b="0" i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CJ2605190086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800" b="0" i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100025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800" b="0" i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湖北三环汽车电器有限公司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8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N1001000UY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8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内开手柄堵盖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800" b="0" i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自送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800" b="0" i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8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2026/05/01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800" b="0" i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2026/12/31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800" b="0" i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Wuhan/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800" b="0" i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胡继泽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800" b="0" i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调达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800" b="0" i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阮琪晖</a:t>
                      </a:r>
                    </a:p>
                  </a:txBody>
                  <a:tcPr marL="69557" marR="69557" marT="34778" marB="34778" anchor="ctr">
                    <a:lnL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8053795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902395D2-A42F-4CB5-91FF-5F713D6CBD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7066891"/>
              </p:ext>
            </p:extLst>
          </p:nvPr>
        </p:nvGraphicFramePr>
        <p:xfrm>
          <a:off x="139209" y="697735"/>
          <a:ext cx="11921211" cy="5852487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038122">
                  <a:extLst>
                    <a:ext uri="{9D8B030D-6E8A-4147-A177-3AD203B41FA5}">
                      <a16:colId xmlns:a16="http://schemas.microsoft.com/office/drawing/2014/main" val="2996401144"/>
                    </a:ext>
                  </a:extLst>
                </a:gridCol>
                <a:gridCol w="932183">
                  <a:extLst>
                    <a:ext uri="{9D8B030D-6E8A-4147-A177-3AD203B41FA5}">
                      <a16:colId xmlns:a16="http://schemas.microsoft.com/office/drawing/2014/main" val="1376783428"/>
                    </a:ext>
                  </a:extLst>
                </a:gridCol>
                <a:gridCol w="1652694">
                  <a:extLst>
                    <a:ext uri="{9D8B030D-6E8A-4147-A177-3AD203B41FA5}">
                      <a16:colId xmlns:a16="http://schemas.microsoft.com/office/drawing/2014/main" val="794692767"/>
                    </a:ext>
                  </a:extLst>
                </a:gridCol>
                <a:gridCol w="995680">
                  <a:extLst>
                    <a:ext uri="{9D8B030D-6E8A-4147-A177-3AD203B41FA5}">
                      <a16:colId xmlns:a16="http://schemas.microsoft.com/office/drawing/2014/main" val="3356357942"/>
                    </a:ext>
                  </a:extLst>
                </a:gridCol>
                <a:gridCol w="1286645">
                  <a:extLst>
                    <a:ext uri="{9D8B030D-6E8A-4147-A177-3AD203B41FA5}">
                      <a16:colId xmlns:a16="http://schemas.microsoft.com/office/drawing/2014/main" val="1383900707"/>
                    </a:ext>
                  </a:extLst>
                </a:gridCol>
                <a:gridCol w="760929">
                  <a:extLst>
                    <a:ext uri="{9D8B030D-6E8A-4147-A177-3AD203B41FA5}">
                      <a16:colId xmlns:a16="http://schemas.microsoft.com/office/drawing/2014/main" val="1328597712"/>
                    </a:ext>
                  </a:extLst>
                </a:gridCol>
                <a:gridCol w="799950">
                  <a:extLst>
                    <a:ext uri="{9D8B030D-6E8A-4147-A177-3AD203B41FA5}">
                      <a16:colId xmlns:a16="http://schemas.microsoft.com/office/drawing/2014/main" val="3574089940"/>
                    </a:ext>
                  </a:extLst>
                </a:gridCol>
                <a:gridCol w="885276">
                  <a:extLst>
                    <a:ext uri="{9D8B030D-6E8A-4147-A177-3AD203B41FA5}">
                      <a16:colId xmlns:a16="http://schemas.microsoft.com/office/drawing/2014/main" val="2386866830"/>
                    </a:ext>
                  </a:extLst>
                </a:gridCol>
                <a:gridCol w="825591">
                  <a:extLst>
                    <a:ext uri="{9D8B030D-6E8A-4147-A177-3AD203B41FA5}">
                      <a16:colId xmlns:a16="http://schemas.microsoft.com/office/drawing/2014/main" val="2926825063"/>
                    </a:ext>
                  </a:extLst>
                </a:gridCol>
                <a:gridCol w="636954">
                  <a:extLst>
                    <a:ext uri="{9D8B030D-6E8A-4147-A177-3AD203B41FA5}">
                      <a16:colId xmlns:a16="http://schemas.microsoft.com/office/drawing/2014/main" val="2133775107"/>
                    </a:ext>
                  </a:extLst>
                </a:gridCol>
                <a:gridCol w="526797">
                  <a:extLst>
                    <a:ext uri="{9D8B030D-6E8A-4147-A177-3AD203B41FA5}">
                      <a16:colId xmlns:a16="http://schemas.microsoft.com/office/drawing/2014/main" val="2526518162"/>
                    </a:ext>
                  </a:extLst>
                </a:gridCol>
                <a:gridCol w="819461">
                  <a:extLst>
                    <a:ext uri="{9D8B030D-6E8A-4147-A177-3AD203B41FA5}">
                      <a16:colId xmlns:a16="http://schemas.microsoft.com/office/drawing/2014/main" val="263172206"/>
                    </a:ext>
                  </a:extLst>
                </a:gridCol>
                <a:gridCol w="760929">
                  <a:extLst>
                    <a:ext uri="{9D8B030D-6E8A-4147-A177-3AD203B41FA5}">
                      <a16:colId xmlns:a16="http://schemas.microsoft.com/office/drawing/2014/main" val="2842603393"/>
                    </a:ext>
                  </a:extLst>
                </a:gridCol>
              </a:tblGrid>
              <a:tr h="539045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价格通知书</a:t>
                      </a:r>
                      <a:endParaRPr lang="zh-CN" altLang="en-US" sz="900" b="1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供应商编码</a:t>
                      </a:r>
                      <a:endParaRPr lang="zh-CN" altLang="en-US" sz="900" b="1" i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供应商名称</a:t>
                      </a:r>
                      <a:endParaRPr lang="zh-CN" altLang="en-US" sz="900" b="1" i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零件号</a:t>
                      </a:r>
                      <a:endParaRPr lang="zh-CN" altLang="en-US" sz="900" b="1" i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零件名称</a:t>
                      </a:r>
                      <a:endParaRPr lang="zh-CN" altLang="en-US" sz="900" b="1" i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EPS</a:t>
                      </a:r>
                      <a:r>
                        <a:rPr lang="zh-CN" alt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输机物流方式</a:t>
                      </a:r>
                      <a:endParaRPr lang="zh-CN" altLang="en-US" sz="900" b="1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物流费（元）</a:t>
                      </a:r>
                      <a:endParaRPr lang="zh-CN" altLang="en-US" sz="900" b="1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生效日期</a:t>
                      </a:r>
                      <a:endParaRPr lang="zh-CN" altLang="en-US" sz="900" b="1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失效日期</a:t>
                      </a:r>
                      <a:endParaRPr lang="zh-CN" altLang="en-US" sz="900" b="1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地区</a:t>
                      </a:r>
                      <a:endParaRPr lang="zh-CN" altLang="en-US" sz="900" b="1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创建人</a:t>
                      </a:r>
                      <a:endParaRPr lang="zh-CN" altLang="en-US" sz="900" b="1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实际物流方式</a:t>
                      </a:r>
                      <a:endParaRPr lang="zh-CN" altLang="en-US" sz="900" b="1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采购工程师</a:t>
                      </a:r>
                      <a:endParaRPr lang="zh-CN" altLang="en-US" sz="900" b="1" i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extLst>
                  <a:ext uri="{0D108BD9-81ED-4DB2-BD59-A6C34878D82A}">
                    <a16:rowId xmlns:a16="http://schemas.microsoft.com/office/drawing/2014/main" val="1089008844"/>
                  </a:ext>
                </a:extLst>
              </a:tr>
              <a:tr h="539045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CJ2605080014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100025</a:t>
                      </a:r>
                      <a:endParaRPr lang="en-US" altLang="zh-CN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湖北三环汽车电器有限公司</a:t>
                      </a:r>
                      <a:endParaRPr lang="zh-CN" altLang="en-US" sz="900" b="0" i="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N1000943SW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内开手柄堵盖</a:t>
                      </a:r>
                      <a:endParaRPr lang="zh-CN" altLang="en-US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自送</a:t>
                      </a:r>
                      <a:endParaRPr lang="zh-CN" altLang="en-US" sz="900" b="0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0.114</a:t>
                      </a:r>
                      <a:endParaRPr lang="en-US" altLang="zh-CN" sz="900" b="0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2026/02/01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2026/12/31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Wuhan/</a:t>
                      </a:r>
                      <a:endParaRPr lang="en-US" sz="900" b="0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闵守卫</a:t>
                      </a:r>
                      <a:endParaRPr lang="zh-CN" altLang="en-US" sz="900" b="0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调达</a:t>
                      </a:r>
                      <a:endParaRPr lang="zh-CN" altLang="en-US" sz="900" b="0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落国慧</a:t>
                      </a:r>
                      <a:endParaRPr lang="zh-CN" altLang="en-US" sz="900" b="0" i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extLst>
                  <a:ext uri="{0D108BD9-81ED-4DB2-BD59-A6C34878D82A}">
                    <a16:rowId xmlns:a16="http://schemas.microsoft.com/office/drawing/2014/main" val="1106003597"/>
                  </a:ext>
                </a:extLst>
              </a:tr>
              <a:tr h="539045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CJ2605080014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100025</a:t>
                      </a:r>
                      <a:endParaRPr lang="en-US" altLang="zh-CN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湖北三环汽车电器有限公司</a:t>
                      </a:r>
                      <a:endParaRPr lang="zh-CN" altLang="en-US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N1000943UJ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内开手柄堵盖</a:t>
                      </a:r>
                      <a:endParaRPr lang="zh-CN" altLang="en-US" sz="900" b="0" i="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自送</a:t>
                      </a:r>
                      <a:endParaRPr lang="zh-CN" altLang="en-US" sz="900" b="0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0.114</a:t>
                      </a:r>
                      <a:endParaRPr lang="en-US" altLang="zh-CN" sz="900" b="0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2026/02/01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2026/12/31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Wuhan/</a:t>
                      </a:r>
                      <a:endParaRPr lang="en-US" sz="900" b="0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闵守卫</a:t>
                      </a:r>
                      <a:endParaRPr lang="zh-CN" altLang="en-US" sz="900" b="0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调达</a:t>
                      </a:r>
                      <a:endParaRPr lang="zh-CN" altLang="en-US" sz="900" b="0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落国慧</a:t>
                      </a:r>
                      <a:endParaRPr lang="zh-CN" altLang="en-US" sz="900" b="0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extLst>
                  <a:ext uri="{0D108BD9-81ED-4DB2-BD59-A6C34878D82A}">
                    <a16:rowId xmlns:a16="http://schemas.microsoft.com/office/drawing/2014/main" val="3619674499"/>
                  </a:ext>
                </a:extLst>
              </a:tr>
              <a:tr h="539045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CJ2605080014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100025</a:t>
                      </a:r>
                      <a:endParaRPr lang="en-US" altLang="zh-CN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湖北三环汽车电器有限公司</a:t>
                      </a:r>
                      <a:endParaRPr lang="zh-CN" altLang="en-US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N1000943UK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内开手柄堵盖</a:t>
                      </a:r>
                      <a:endParaRPr lang="zh-CN" altLang="en-US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自送</a:t>
                      </a:r>
                      <a:endParaRPr lang="zh-CN" altLang="en-US" sz="900" b="0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0.114</a:t>
                      </a:r>
                      <a:endParaRPr lang="en-US" altLang="zh-CN" sz="900" b="0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2026/02/01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2026/12/31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Wuhan/</a:t>
                      </a:r>
                      <a:endParaRPr lang="en-US" sz="900" b="0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闵守卫</a:t>
                      </a:r>
                      <a:endParaRPr lang="zh-CN" altLang="en-US" sz="900" b="0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调达</a:t>
                      </a:r>
                      <a:endParaRPr lang="zh-CN" altLang="en-US" sz="900" b="0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落国慧</a:t>
                      </a:r>
                      <a:endParaRPr lang="zh-CN" altLang="en-US" sz="900" b="0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extLst>
                  <a:ext uri="{0D108BD9-81ED-4DB2-BD59-A6C34878D82A}">
                    <a16:rowId xmlns:a16="http://schemas.microsoft.com/office/drawing/2014/main" val="3099993608"/>
                  </a:ext>
                </a:extLst>
              </a:tr>
              <a:tr h="539045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CJ2605080014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100025</a:t>
                      </a:r>
                      <a:endParaRPr lang="en-US" altLang="zh-CN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湖北三环汽车电器有限公司</a:t>
                      </a:r>
                      <a:endParaRPr lang="zh-CN" altLang="en-US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N1000944SW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内开手柄堵盖</a:t>
                      </a:r>
                      <a:endParaRPr lang="zh-CN" altLang="en-US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自送</a:t>
                      </a:r>
                      <a:endParaRPr lang="zh-CN" altLang="en-US" sz="900" b="0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0.114</a:t>
                      </a:r>
                      <a:endParaRPr lang="en-US" altLang="zh-CN" sz="900" b="0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2026/02/01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2026/12/31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Wuhan/</a:t>
                      </a:r>
                      <a:endParaRPr lang="en-US" sz="900" b="0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闵守卫</a:t>
                      </a:r>
                      <a:endParaRPr lang="zh-CN" altLang="en-US" sz="900" b="0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调达</a:t>
                      </a:r>
                      <a:endParaRPr lang="zh-CN" altLang="en-US" sz="900" b="0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落国慧</a:t>
                      </a:r>
                      <a:endParaRPr lang="zh-CN" altLang="en-US" sz="900" b="0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extLst>
                  <a:ext uri="{0D108BD9-81ED-4DB2-BD59-A6C34878D82A}">
                    <a16:rowId xmlns:a16="http://schemas.microsoft.com/office/drawing/2014/main" val="3878947895"/>
                  </a:ext>
                </a:extLst>
              </a:tr>
              <a:tr h="539045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CJ2605080014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100025</a:t>
                      </a:r>
                      <a:endParaRPr lang="en-US" altLang="zh-CN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湖北三环汽车电器有限公司</a:t>
                      </a:r>
                      <a:endParaRPr lang="zh-CN" altLang="en-US" sz="900" b="0" i="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N1000944UJ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内开手柄堵盖</a:t>
                      </a:r>
                      <a:endParaRPr lang="zh-CN" altLang="en-US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自送</a:t>
                      </a:r>
                      <a:endParaRPr lang="zh-CN" altLang="en-US" sz="900" b="0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0.114</a:t>
                      </a:r>
                      <a:endParaRPr lang="en-US" altLang="zh-CN" sz="900" b="0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2026/02/01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2026/12/31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Wuhan/</a:t>
                      </a:r>
                      <a:endParaRPr lang="en-US" sz="900" b="0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闵守卫</a:t>
                      </a:r>
                      <a:endParaRPr lang="zh-CN" altLang="en-US" sz="900" b="0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调达</a:t>
                      </a:r>
                      <a:endParaRPr lang="zh-CN" altLang="en-US" sz="900" b="0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落国慧</a:t>
                      </a:r>
                      <a:endParaRPr lang="zh-CN" altLang="en-US" sz="900" b="0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extLst>
                  <a:ext uri="{0D108BD9-81ED-4DB2-BD59-A6C34878D82A}">
                    <a16:rowId xmlns:a16="http://schemas.microsoft.com/office/drawing/2014/main" val="221885567"/>
                  </a:ext>
                </a:extLst>
              </a:tr>
              <a:tr h="539045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CJ2605080014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100025</a:t>
                      </a:r>
                      <a:endParaRPr lang="en-US" altLang="zh-CN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湖北三环汽车电器有限公司</a:t>
                      </a:r>
                      <a:endParaRPr lang="zh-CN" altLang="en-US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N1000944UK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内开手柄堵盖</a:t>
                      </a:r>
                      <a:endParaRPr lang="zh-CN" altLang="en-US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自送</a:t>
                      </a:r>
                      <a:endParaRPr lang="zh-CN" altLang="en-US" sz="900" b="0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0.114</a:t>
                      </a:r>
                      <a:endParaRPr lang="en-US" altLang="zh-CN" sz="900" b="0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2026/02/01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2026/12/31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Wuhan/</a:t>
                      </a:r>
                      <a:endParaRPr lang="en-US" sz="900" b="0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闵守卫</a:t>
                      </a:r>
                      <a:endParaRPr lang="zh-CN" altLang="en-US" sz="900" b="0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调达</a:t>
                      </a:r>
                      <a:endParaRPr lang="zh-CN" altLang="en-US" sz="900" b="0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落国慧</a:t>
                      </a:r>
                      <a:endParaRPr lang="zh-CN" altLang="en-US" sz="900" b="0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extLst>
                  <a:ext uri="{0D108BD9-81ED-4DB2-BD59-A6C34878D82A}">
                    <a16:rowId xmlns:a16="http://schemas.microsoft.com/office/drawing/2014/main" val="835930262"/>
                  </a:ext>
                </a:extLst>
              </a:tr>
              <a:tr h="539045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CJ2602050016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100067</a:t>
                      </a:r>
                      <a:endParaRPr lang="en-US" altLang="zh-CN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武汉正奥汽车电气系统有限公司</a:t>
                      </a:r>
                      <a:endParaRPr lang="zh-CN" altLang="en-US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Z900770760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激光雷达线束</a:t>
                      </a:r>
                      <a:endParaRPr lang="zh-CN" altLang="en-US" sz="900" b="0" i="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自送</a:t>
                      </a:r>
                      <a:endParaRPr lang="zh-CN" altLang="en-US" sz="900" b="0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0.56</a:t>
                      </a:r>
                      <a:endParaRPr lang="en-US" altLang="zh-CN" sz="900" b="0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2026/02/01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2026/12/31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Wuhan/</a:t>
                      </a:r>
                      <a:endParaRPr lang="en-US" sz="900" b="0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胡继泽</a:t>
                      </a:r>
                      <a:endParaRPr lang="zh-CN" altLang="en-US" sz="900" b="0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zh-CN" altLang="en-US" sz="900" b="0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孙学励</a:t>
                      </a:r>
                      <a:endParaRPr lang="zh-CN" altLang="en-US" sz="900" b="0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extLst>
                  <a:ext uri="{0D108BD9-81ED-4DB2-BD59-A6C34878D82A}">
                    <a16:rowId xmlns:a16="http://schemas.microsoft.com/office/drawing/2014/main" val="2302739066"/>
                  </a:ext>
                </a:extLst>
              </a:tr>
              <a:tr h="539045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CJ2601130040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200232</a:t>
                      </a:r>
                      <a:endParaRPr lang="en-US" altLang="zh-CN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安徽中鼎密封件股份有限公司</a:t>
                      </a:r>
                      <a:endParaRPr lang="zh-CN" altLang="en-US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E100145560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前减震器杆保护套</a:t>
                      </a:r>
                      <a:endParaRPr lang="zh-CN" altLang="en-US" sz="900" b="0" i="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自送</a:t>
                      </a:r>
                      <a:endParaRPr lang="zh-CN" altLang="en-US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0.15</a:t>
                      </a:r>
                      <a:endParaRPr lang="en-US" altLang="zh-CN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2026/01/01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2026/12/31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Wuhan/</a:t>
                      </a:r>
                      <a:endParaRPr lang="en-US" sz="900" b="0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闵守卫</a:t>
                      </a:r>
                      <a:endParaRPr lang="zh-CN" altLang="en-US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末端调达</a:t>
                      </a:r>
                      <a:endParaRPr lang="zh-CN" altLang="en-US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陈莉</a:t>
                      </a:r>
                      <a:endParaRPr lang="zh-CN" altLang="en-US" sz="900" b="0" i="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extLst>
                  <a:ext uri="{0D108BD9-81ED-4DB2-BD59-A6C34878D82A}">
                    <a16:rowId xmlns:a16="http://schemas.microsoft.com/office/drawing/2014/main" val="3072964538"/>
                  </a:ext>
                </a:extLst>
              </a:tr>
              <a:tr h="500541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CJ2604020009</a:t>
                      </a:r>
                      <a:endParaRPr lang="en-US" sz="900" b="0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100025</a:t>
                      </a:r>
                      <a:endParaRPr lang="en-US" altLang="zh-CN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湖北三环汽车电器有限公司</a:t>
                      </a:r>
                      <a:endParaRPr lang="zh-CN" altLang="en-US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N1000943PL</a:t>
                      </a:r>
                      <a:endParaRPr lang="en-US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内开手柄堵盖</a:t>
                      </a:r>
                      <a:endParaRPr lang="zh-CN" altLang="en-US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自送</a:t>
                      </a:r>
                      <a:endParaRPr lang="zh-CN" altLang="en-US" sz="900" b="0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0.114</a:t>
                      </a:r>
                      <a:endParaRPr lang="en-US" altLang="zh-CN" sz="900" b="0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2026/02/01</a:t>
                      </a:r>
                      <a:endParaRPr lang="en-US" altLang="zh-CN" sz="900" b="0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2026/02/28</a:t>
                      </a:r>
                      <a:endParaRPr lang="en-US" altLang="zh-CN" sz="900" b="0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Wuhan/</a:t>
                      </a:r>
                      <a:endParaRPr lang="en-US" sz="900" b="0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落国慧</a:t>
                      </a:r>
                      <a:endParaRPr lang="zh-CN" altLang="en-US" sz="900" b="0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调达</a:t>
                      </a:r>
                      <a:endParaRPr lang="zh-CN" altLang="en-US" sz="900" b="0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落国慧</a:t>
                      </a:r>
                      <a:endParaRPr lang="zh-CN" altLang="en-US" sz="900" b="0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extLst>
                  <a:ext uri="{0D108BD9-81ED-4DB2-BD59-A6C34878D82A}">
                    <a16:rowId xmlns:a16="http://schemas.microsoft.com/office/drawing/2014/main" val="2388688184"/>
                  </a:ext>
                </a:extLst>
              </a:tr>
              <a:tr h="500541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CJ2604020009</a:t>
                      </a:r>
                      <a:endParaRPr lang="en-US" sz="900" b="0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100025</a:t>
                      </a:r>
                      <a:endParaRPr lang="en-US" altLang="zh-CN" sz="900" b="0" i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湖北三环汽车电器有限公司</a:t>
                      </a:r>
                      <a:endParaRPr lang="zh-CN" altLang="en-US" sz="900" b="0" i="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9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N1000944PL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内开手柄堵盖</a:t>
                      </a:r>
                      <a:endParaRPr lang="zh-CN" altLang="en-US" sz="900" b="0" i="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自送</a:t>
                      </a:r>
                      <a:endParaRPr lang="zh-CN" altLang="en-US" sz="900" b="0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0.114</a:t>
                      </a:r>
                      <a:endParaRPr lang="en-US" altLang="zh-CN" sz="900" b="0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2026/02/01</a:t>
                      </a:r>
                      <a:endParaRPr lang="en-US" altLang="zh-CN" sz="900" b="0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zh-CN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2026/02/28</a:t>
                      </a:r>
                      <a:endParaRPr lang="en-US" altLang="zh-CN" sz="900" b="0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Wuhan/</a:t>
                      </a:r>
                      <a:endParaRPr lang="en-US" sz="900" b="0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落国慧</a:t>
                      </a:r>
                      <a:endParaRPr lang="zh-CN" altLang="en-US" sz="900" b="0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调达</a:t>
                      </a:r>
                      <a:endParaRPr lang="zh-CN" altLang="en-US" sz="900" b="0" i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落国慧</a:t>
                      </a:r>
                      <a:endParaRPr lang="zh-CN" altLang="en-US" sz="900" b="0" i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7637" marR="67637" marT="33819" marB="33819" anchor="ctr"/>
                </a:tc>
                <a:extLst>
                  <a:ext uri="{0D108BD9-81ED-4DB2-BD59-A6C34878D82A}">
                    <a16:rowId xmlns:a16="http://schemas.microsoft.com/office/drawing/2014/main" val="21580047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6361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687A163-1E83-4AFB-B5AD-25DD46CEF634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94453" y="733765"/>
            <a:ext cx="11203093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219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次党总支会备件裸价和量产裸件处理方案，其中：</a:t>
            </a: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32728782"/>
              </p:ext>
            </p:extLst>
          </p:nvPr>
        </p:nvGraphicFramePr>
        <p:xfrm>
          <a:off x="548639" y="1070950"/>
          <a:ext cx="11392747" cy="1943288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834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8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89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2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59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759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759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440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年份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未联动数量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其中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6350" marR="6350" marT="635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6350" marR="6350" marT="635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6350" marR="6350" marT="635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40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350" marR="6350" marT="635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350" marR="6350" marT="635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不联动</a:t>
                      </a:r>
                      <a:r>
                        <a:rPr lang="en-US" altLang="zh-CN" sz="12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→</a:t>
                      </a:r>
                      <a:r>
                        <a:rPr lang="zh-CN" altLang="en-US" sz="12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联动（已确定）</a:t>
                      </a:r>
                      <a:endParaRPr lang="en-US" altLang="zh-CN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不联动</a:t>
                      </a:r>
                      <a:r>
                        <a:rPr lang="en-US" altLang="zh-CN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→</a:t>
                      </a:r>
                      <a:r>
                        <a:rPr lang="zh-CN" altLang="en-US" sz="12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联动（推进中）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维持不联动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重复（需删除）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数据删除</a:t>
                      </a:r>
                    </a:p>
                  </a:txBody>
                  <a:tcPr marL="6350" marR="6350" marT="635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9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1223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1044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9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1150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74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1070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9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总计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2373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94</a:t>
                      </a:r>
                      <a:endParaRPr lang="en-US" altLang="zh-CN" sz="1400" b="1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2114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9CB528B6-FF9C-4224-8EDC-713AF8440F2F}"/>
              </a:ext>
            </a:extLst>
          </p:cNvPr>
          <p:cNvSpPr txBox="1"/>
          <p:nvPr/>
        </p:nvSpPr>
        <p:spPr>
          <a:xfrm>
            <a:off x="501224" y="3250947"/>
            <a:ext cx="11487575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后续双周报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_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备件裸价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量产件裸价排查包括下列三方面：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、备件裸价与量产件裸价对比：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①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备件与量产件有对应关系，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②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同一月份备件与量产件均有价格，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③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不在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不联动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清单中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</a:p>
          <a:p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查找</a:t>
            </a:r>
            <a:r>
              <a:rPr lang="zh-CN" altLang="en-US" sz="15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同期备件裸价 </a:t>
            </a:r>
            <a:r>
              <a:rPr lang="en-US" altLang="zh-CN" sz="15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lang="zh-CN" altLang="en-US" sz="15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量产件裸价</a:t>
            </a:r>
            <a:endParaRPr lang="en-US" altLang="zh-CN" sz="15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、联动标识输机维护是否异常：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①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备件与量产件有对应关系，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②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量产件价格有任何输机记录，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③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不在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不联动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清单中，④未经党总支会与供应商选择会审议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查找</a:t>
            </a:r>
            <a:r>
              <a:rPr lang="zh-CN" altLang="en-US" sz="15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备件价格通知书中</a:t>
            </a:r>
            <a:r>
              <a:rPr lang="en-US" altLang="zh-CN" sz="15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5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是否联动</a:t>
            </a:r>
            <a:r>
              <a:rPr lang="en-US" altLang="zh-CN" sz="15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5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为“否”</a:t>
            </a:r>
            <a:endParaRPr lang="en-US" altLang="zh-CN" sz="15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</a:p>
          <a:p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、持续监控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160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项量产件裸价与备件裸价：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	</a:t>
            </a:r>
          </a:p>
          <a:p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查找</a:t>
            </a:r>
            <a:r>
              <a:rPr lang="zh-CN" altLang="en-US" sz="15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量产件裸价</a:t>
            </a:r>
            <a:r>
              <a:rPr lang="en-US" altLang="zh-CN" sz="15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&lt;=</a:t>
            </a:r>
            <a:r>
              <a:rPr lang="zh-CN" altLang="en-US" sz="15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备件裸价且</a:t>
            </a:r>
            <a:r>
              <a:rPr lang="en-US" altLang="zh-CN" sz="15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5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是否联动</a:t>
            </a:r>
            <a:r>
              <a:rPr lang="en-US" altLang="zh-CN" sz="15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5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仍为</a:t>
            </a:r>
            <a:r>
              <a:rPr lang="en-US" altLang="zh-CN" sz="15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5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否</a:t>
            </a:r>
            <a:r>
              <a:rPr lang="en-US" altLang="zh-CN" sz="15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zh-CN" altLang="en-US" sz="15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A200FD1-CCA6-4EA8-8067-EBD7C101F202}"/>
              </a:ext>
            </a:extLst>
          </p:cNvPr>
          <p:cNvSpPr/>
          <p:nvPr/>
        </p:nvSpPr>
        <p:spPr>
          <a:xfrm>
            <a:off x="494453" y="246079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二、备件输机检查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CD1E97DF-D69A-4955-B3C6-2A9102186F57}"/>
              </a:ext>
            </a:extLst>
          </p:cNvPr>
          <p:cNvSpPr txBox="1"/>
          <p:nvPr/>
        </p:nvSpPr>
        <p:spPr>
          <a:xfrm>
            <a:off x="219890" y="693093"/>
            <a:ext cx="14759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本期新增生效备件</a:t>
            </a:r>
            <a:r>
              <a:rPr lang="en-US" altLang="zh-CN" sz="1400" b="1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732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项，与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“同期”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生效量产件裸价对比，</a:t>
            </a:r>
            <a:r>
              <a:rPr lang="en-US" altLang="zh-CN" sz="1400" b="1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项备件裸价高于同期量产件裸价。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731AB6A0-9D78-47E7-983E-3ED6D6F841F2}"/>
              </a:ext>
            </a:extLst>
          </p:cNvPr>
          <p:cNvSpPr txBox="1">
            <a:spLocks/>
          </p:cNvSpPr>
          <p:nvPr/>
        </p:nvSpPr>
        <p:spPr>
          <a:xfrm>
            <a:off x="219890" y="209691"/>
            <a:ext cx="6854194" cy="39703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二、</a:t>
            </a:r>
            <a:r>
              <a:rPr lang="zh-CN" altLang="en-US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备件输机高于同期量产件裸价检查</a:t>
            </a:r>
            <a:endParaRPr lang="zh-CN" altLang="en-US" sz="18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CD73E5F-9F36-4343-9291-4F27F6D01AC6}"/>
              </a:ext>
            </a:extLst>
          </p:cNvPr>
          <p:cNvSpPr txBox="1"/>
          <p:nvPr/>
        </p:nvSpPr>
        <p:spPr>
          <a:xfrm>
            <a:off x="219890" y="6604084"/>
            <a:ext cx="74709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排查原则：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①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备件与量产件有对应关系，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②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同一月份备件与量产件均有价格，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③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不在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不联动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清单中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EB9C787-B080-48AB-9F47-211114E19E0C}"/>
              </a:ext>
            </a:extLst>
          </p:cNvPr>
          <p:cNvSpPr txBox="1"/>
          <p:nvPr/>
        </p:nvSpPr>
        <p:spPr>
          <a:xfrm>
            <a:off x="219890" y="6075481"/>
            <a:ext cx="14759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备件裸价高于同期量产件裸价汇总清单：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4077DEA-45F4-4667-9FF4-CE84436018EF}"/>
              </a:ext>
            </a:extLst>
          </p:cNvPr>
          <p:cNvSpPr/>
          <p:nvPr/>
        </p:nvSpPr>
        <p:spPr>
          <a:xfrm>
            <a:off x="3403147" y="6068449"/>
            <a:ext cx="60960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备件裸价高于同期对应量产件裸价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_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汇总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E65035F-CD49-472F-BC75-2DBD1A70B878}"/>
              </a:ext>
            </a:extLst>
          </p:cNvPr>
          <p:cNvSpPr txBox="1"/>
          <p:nvPr/>
        </p:nvSpPr>
        <p:spPr>
          <a:xfrm>
            <a:off x="219890" y="4738243"/>
            <a:ext cx="6659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本期备件裸价高于同期量产件裸价：</a:t>
            </a:r>
          </a:p>
        </p:txBody>
      </p:sp>
      <p:graphicFrame>
        <p:nvGraphicFramePr>
          <p:cNvPr id="13" name="图表 12">
            <a:extLst>
              <a:ext uri="{FF2B5EF4-FFF2-40B4-BE49-F238E27FC236}">
                <a16:creationId xmlns:a16="http://schemas.microsoft.com/office/drawing/2014/main" id="{39BAEFD9-E5F3-4C5B-B6EC-73140D23C17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03781652"/>
              </p:ext>
            </p:extLst>
          </p:nvPr>
        </p:nvGraphicFramePr>
        <p:xfrm>
          <a:off x="594856" y="1087240"/>
          <a:ext cx="11051044" cy="3469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208037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7D27FB-CA06-43F7-BCCC-2FDB52D47A3C}"/>
              </a:ext>
            </a:extLst>
          </p:cNvPr>
          <p:cNvSpPr txBox="1">
            <a:spLocks/>
          </p:cNvSpPr>
          <p:nvPr/>
        </p:nvSpPr>
        <p:spPr>
          <a:xfrm>
            <a:off x="219890" y="210878"/>
            <a:ext cx="6854194" cy="39703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二、不联动清单（含推进中）</a:t>
            </a:r>
            <a:r>
              <a:rPr lang="en-US" altLang="zh-CN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&amp;</a:t>
            </a:r>
            <a:r>
              <a:rPr lang="zh-CN" altLang="en-US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备件输机联动标识点检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22664BF-2C32-4F87-8135-E82EA76F00E1}"/>
              </a:ext>
            </a:extLst>
          </p:cNvPr>
          <p:cNvSpPr/>
          <p:nvPr/>
        </p:nvSpPr>
        <p:spPr>
          <a:xfrm>
            <a:off x="219890" y="6589270"/>
            <a:ext cx="1050595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排查原则：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备件与量产件有对应关系，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②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量产件价格有任何输机记录，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③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不在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不联动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清单中，④未经党总支会与供应商选择会审议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DB571FD-6743-4C99-8249-C6CF620FDECB}"/>
              </a:ext>
            </a:extLst>
          </p:cNvPr>
          <p:cNvSpPr txBox="1"/>
          <p:nvPr/>
        </p:nvSpPr>
        <p:spPr>
          <a:xfrm>
            <a:off x="6243469" y="782233"/>
            <a:ext cx="55131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本期备件输机应联动</a:t>
            </a:r>
            <a:r>
              <a:rPr lang="en-US" altLang="zh-CN" sz="1400" b="1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1207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项，未联动 </a:t>
            </a:r>
            <a:r>
              <a:rPr lang="en-US" altLang="zh-CN" sz="1400" b="1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0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A16D58B-B431-4BA8-A0E8-A11872B14C6D}"/>
              </a:ext>
            </a:extLst>
          </p:cNvPr>
          <p:cNvSpPr txBox="1"/>
          <p:nvPr/>
        </p:nvSpPr>
        <p:spPr>
          <a:xfrm>
            <a:off x="219890" y="4539501"/>
            <a:ext cx="6659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本期备件输机未联动清单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F3940F9F-44B0-438B-9984-50448A00D3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4696402"/>
              </p:ext>
            </p:extLst>
          </p:nvPr>
        </p:nvGraphicFramePr>
        <p:xfrm>
          <a:off x="262223" y="4855276"/>
          <a:ext cx="11836396" cy="80963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076036">
                  <a:extLst>
                    <a:ext uri="{9D8B030D-6E8A-4147-A177-3AD203B41FA5}">
                      <a16:colId xmlns:a16="http://schemas.microsoft.com/office/drawing/2014/main" val="3409753463"/>
                    </a:ext>
                  </a:extLst>
                </a:gridCol>
                <a:gridCol w="1076036">
                  <a:extLst>
                    <a:ext uri="{9D8B030D-6E8A-4147-A177-3AD203B41FA5}">
                      <a16:colId xmlns:a16="http://schemas.microsoft.com/office/drawing/2014/main" val="2184773542"/>
                    </a:ext>
                  </a:extLst>
                </a:gridCol>
                <a:gridCol w="1076036">
                  <a:extLst>
                    <a:ext uri="{9D8B030D-6E8A-4147-A177-3AD203B41FA5}">
                      <a16:colId xmlns:a16="http://schemas.microsoft.com/office/drawing/2014/main" val="3263264022"/>
                    </a:ext>
                  </a:extLst>
                </a:gridCol>
                <a:gridCol w="1076036">
                  <a:extLst>
                    <a:ext uri="{9D8B030D-6E8A-4147-A177-3AD203B41FA5}">
                      <a16:colId xmlns:a16="http://schemas.microsoft.com/office/drawing/2014/main" val="3845187768"/>
                    </a:ext>
                  </a:extLst>
                </a:gridCol>
                <a:gridCol w="1076036">
                  <a:extLst>
                    <a:ext uri="{9D8B030D-6E8A-4147-A177-3AD203B41FA5}">
                      <a16:colId xmlns:a16="http://schemas.microsoft.com/office/drawing/2014/main" val="1179746789"/>
                    </a:ext>
                  </a:extLst>
                </a:gridCol>
                <a:gridCol w="1076036">
                  <a:extLst>
                    <a:ext uri="{9D8B030D-6E8A-4147-A177-3AD203B41FA5}">
                      <a16:colId xmlns:a16="http://schemas.microsoft.com/office/drawing/2014/main" val="1532298139"/>
                    </a:ext>
                  </a:extLst>
                </a:gridCol>
                <a:gridCol w="1076036">
                  <a:extLst>
                    <a:ext uri="{9D8B030D-6E8A-4147-A177-3AD203B41FA5}">
                      <a16:colId xmlns:a16="http://schemas.microsoft.com/office/drawing/2014/main" val="694914100"/>
                    </a:ext>
                  </a:extLst>
                </a:gridCol>
                <a:gridCol w="1076036">
                  <a:extLst>
                    <a:ext uri="{9D8B030D-6E8A-4147-A177-3AD203B41FA5}">
                      <a16:colId xmlns:a16="http://schemas.microsoft.com/office/drawing/2014/main" val="1609710003"/>
                    </a:ext>
                  </a:extLst>
                </a:gridCol>
                <a:gridCol w="1543246">
                  <a:extLst>
                    <a:ext uri="{9D8B030D-6E8A-4147-A177-3AD203B41FA5}">
                      <a16:colId xmlns:a16="http://schemas.microsoft.com/office/drawing/2014/main" val="2694657882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435762473"/>
                    </a:ext>
                  </a:extLst>
                </a:gridCol>
                <a:gridCol w="821262">
                  <a:extLst>
                    <a:ext uri="{9D8B030D-6E8A-4147-A177-3AD203B41FA5}">
                      <a16:colId xmlns:a16="http://schemas.microsoft.com/office/drawing/2014/main" val="468818999"/>
                    </a:ext>
                  </a:extLst>
                </a:gridCol>
              </a:tblGrid>
              <a:tr h="46800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价格通知书号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供应商编码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供应商名称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备件号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备件名称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采购工程师姓名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量产件号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量产件名称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是否联动</a:t>
                      </a:r>
                      <a:r>
                        <a:rPr lang="en-US" altLang="zh-CN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(0</a:t>
                      </a:r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是，</a:t>
                      </a:r>
                      <a:r>
                        <a:rPr lang="en-US" altLang="zh-CN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否</a:t>
                      </a:r>
                      <a:r>
                        <a:rPr lang="en-US" altLang="zh-CN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en-US" alt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生效日期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失效日期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487776"/>
                  </a:ext>
                </a:extLst>
              </a:tr>
              <a:tr h="281537"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 fontAlgn="ctr"/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61110332"/>
                  </a:ext>
                </a:extLst>
              </a:tr>
            </a:tbl>
          </a:graphicData>
        </a:graphic>
      </p:graphicFrame>
      <p:graphicFrame>
        <p:nvGraphicFramePr>
          <p:cNvPr id="11" name="图表 10">
            <a:extLst>
              <a:ext uri="{FF2B5EF4-FFF2-40B4-BE49-F238E27FC236}">
                <a16:creationId xmlns:a16="http://schemas.microsoft.com/office/drawing/2014/main" id="{BF8E31AC-94C1-4011-8CCF-965AB50149A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4796002"/>
              </p:ext>
            </p:extLst>
          </p:nvPr>
        </p:nvGraphicFramePr>
        <p:xfrm>
          <a:off x="6095999" y="1246080"/>
          <a:ext cx="5808133" cy="29110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图表 11">
            <a:extLst>
              <a:ext uri="{FF2B5EF4-FFF2-40B4-BE49-F238E27FC236}">
                <a16:creationId xmlns:a16="http://schemas.microsoft.com/office/drawing/2014/main" id="{B92468F7-B77B-4223-B1EE-985A8E4DBE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43243514"/>
              </p:ext>
            </p:extLst>
          </p:nvPr>
        </p:nvGraphicFramePr>
        <p:xfrm>
          <a:off x="67734" y="1232296"/>
          <a:ext cx="5808132" cy="27810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A2AD2235-7718-4ACC-A203-4FB938E183BC}"/>
              </a:ext>
            </a:extLst>
          </p:cNvPr>
          <p:cNvSpPr txBox="1"/>
          <p:nvPr/>
        </p:nvSpPr>
        <p:spPr>
          <a:xfrm>
            <a:off x="435340" y="782233"/>
            <a:ext cx="55131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截至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2026.5.31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，备件不联动 </a:t>
            </a:r>
            <a:r>
              <a:rPr lang="en-US" altLang="zh-CN" sz="1400" b="1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2114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项，跟进 </a:t>
            </a:r>
            <a:r>
              <a:rPr lang="en-US" altLang="zh-CN" sz="1400" b="1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160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8B33481-D5C2-4A30-ABC2-4F75DEFAC307}"/>
              </a:ext>
            </a:extLst>
          </p:cNvPr>
          <p:cNvSpPr/>
          <p:nvPr/>
        </p:nvSpPr>
        <p:spPr>
          <a:xfrm>
            <a:off x="1667935" y="3999118"/>
            <a:ext cx="345041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备件不联动清单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&amp;160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推进清单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5E804F9-A3EA-440C-A36F-856CBA80907F}"/>
              </a:ext>
            </a:extLst>
          </p:cNvPr>
          <p:cNvSpPr/>
          <p:nvPr/>
        </p:nvSpPr>
        <p:spPr>
          <a:xfrm>
            <a:off x="262223" y="6281493"/>
            <a:ext cx="24892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备件输机未联动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_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汇总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58308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CD862B-5D53-45A8-9B66-2D39CF88CA03}"/>
              </a:ext>
            </a:extLst>
          </p:cNvPr>
          <p:cNvSpPr txBox="1">
            <a:spLocks/>
          </p:cNvSpPr>
          <p:nvPr/>
        </p:nvSpPr>
        <p:spPr>
          <a:xfrm>
            <a:off x="0" y="203211"/>
            <a:ext cx="6854194" cy="341632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</a:rPr>
              <a:t>三、新增商折函点检</a:t>
            </a:r>
            <a:r>
              <a:rPr lang="en-US" altLang="zh-CN" dirty="0">
                <a:solidFill>
                  <a:schemeClr val="tx1"/>
                </a:solidFill>
              </a:rPr>
              <a:t>(2025.4.1</a:t>
            </a:r>
            <a:r>
              <a:rPr lang="zh-CN" altLang="en-US" dirty="0">
                <a:solidFill>
                  <a:schemeClr val="tx1"/>
                </a:solidFill>
              </a:rPr>
              <a:t>及之后创建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</a:p>
          <a:p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05FA4D7-6CDF-4AF6-A97B-4407EA80EA3E}"/>
              </a:ext>
            </a:extLst>
          </p:cNvPr>
          <p:cNvSpPr/>
          <p:nvPr/>
        </p:nvSpPr>
        <p:spPr>
          <a:xfrm>
            <a:off x="4585061" y="149013"/>
            <a:ext cx="36002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商折函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Dashboard</a:t>
            </a: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飞书链接，点击跳转</a:t>
            </a: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9B01615-042A-48C2-A9CB-1F7A35028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445" y="740780"/>
            <a:ext cx="10748829" cy="6117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796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EF7825-E8D0-46A7-B474-58614BC80344}"/>
              </a:ext>
            </a:extLst>
          </p:cNvPr>
          <p:cNvSpPr txBox="1">
            <a:spLocks/>
          </p:cNvSpPr>
          <p:nvPr/>
        </p:nvSpPr>
        <p:spPr>
          <a:xfrm>
            <a:off x="230293" y="201954"/>
            <a:ext cx="6854194" cy="341632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</a:rPr>
              <a:t>四、同件不同价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6DAA351-A57A-4B81-854C-C912340DC1CB}"/>
              </a:ext>
            </a:extLst>
          </p:cNvPr>
          <p:cNvSpPr/>
          <p:nvPr/>
        </p:nvSpPr>
        <p:spPr>
          <a:xfrm>
            <a:off x="230293" y="702308"/>
            <a:ext cx="11365653" cy="9368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rgbClr val="C00000"/>
              </a:buClr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（一）排查原则：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C00000"/>
              </a:buClr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、工作范围：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EPS3.0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中已全部生效的价格通知书中零部件（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2024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-2025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年末），累计</a:t>
            </a:r>
            <a:r>
              <a:rPr lang="en-US" altLang="zh-CN" sz="1200" b="1" u="sng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31035</a:t>
            </a:r>
            <a:r>
              <a:rPr lang="zh-CN" altLang="en-US" sz="1200" b="1" u="sng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零部件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C00000"/>
              </a:buClr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、自查依据：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基于下述条件，通过数据爬虫及对结果深入二次分析，析出自查结果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8D11FF7-B6EB-4B87-AE96-CE350A8D8895}"/>
              </a:ext>
            </a:extLst>
          </p:cNvPr>
          <p:cNvSpPr txBox="1"/>
          <p:nvPr/>
        </p:nvSpPr>
        <p:spPr>
          <a:xfrm>
            <a:off x="230293" y="1666282"/>
            <a:ext cx="11562826" cy="377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C00000"/>
              </a:buClr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（二）排查结果：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可疑</a:t>
            </a:r>
            <a:r>
              <a:rPr lang="en-US" altLang="zh-CN" sz="1400" b="1" u="sng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361</a:t>
            </a:r>
            <a:r>
              <a:rPr lang="zh-CN" altLang="en-US" sz="1400" b="1" u="sng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问题项，目前确认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同件不同价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en-US" altLang="zh-CN" sz="1400" b="1" u="sng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21</a:t>
            </a:r>
            <a:r>
              <a:rPr lang="zh-CN" altLang="en-US" sz="1400" b="1" u="sng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，预计商折回收金额</a:t>
            </a:r>
            <a:r>
              <a:rPr lang="en-US" altLang="zh-CN" sz="1400" b="1" u="sng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2911.04</a:t>
            </a:r>
            <a:r>
              <a:rPr lang="zh-CN" altLang="en-US" sz="1400" b="1" u="sng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400" b="1" u="sng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45D8FC85-7C70-4BF9-A9AA-110C334CFF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8547364"/>
              </p:ext>
            </p:extLst>
          </p:nvPr>
        </p:nvGraphicFramePr>
        <p:xfrm>
          <a:off x="309455" y="2157464"/>
          <a:ext cx="11286492" cy="3849637"/>
        </p:xfrm>
        <a:graphic>
          <a:graphicData uri="http://schemas.openxmlformats.org/drawingml/2006/table">
            <a:tbl>
              <a:tblPr/>
              <a:tblGrid>
                <a:gridCol w="4470765">
                  <a:extLst>
                    <a:ext uri="{9D8B030D-6E8A-4147-A177-3AD203B41FA5}">
                      <a16:colId xmlns:a16="http://schemas.microsoft.com/office/drawing/2014/main" val="1810891977"/>
                    </a:ext>
                  </a:extLst>
                </a:gridCol>
                <a:gridCol w="2103890">
                  <a:extLst>
                    <a:ext uri="{9D8B030D-6E8A-4147-A177-3AD203B41FA5}">
                      <a16:colId xmlns:a16="http://schemas.microsoft.com/office/drawing/2014/main" val="947487157"/>
                    </a:ext>
                  </a:extLst>
                </a:gridCol>
                <a:gridCol w="2279214">
                  <a:extLst>
                    <a:ext uri="{9D8B030D-6E8A-4147-A177-3AD203B41FA5}">
                      <a16:colId xmlns:a16="http://schemas.microsoft.com/office/drawing/2014/main" val="975627260"/>
                    </a:ext>
                  </a:extLst>
                </a:gridCol>
                <a:gridCol w="2432623">
                  <a:extLst>
                    <a:ext uri="{9D8B030D-6E8A-4147-A177-3AD203B41FA5}">
                      <a16:colId xmlns:a16="http://schemas.microsoft.com/office/drawing/2014/main" val="552121004"/>
                    </a:ext>
                  </a:extLst>
                </a:gridCol>
              </a:tblGrid>
              <a:tr h="56469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供应商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商折金额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采购工程师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进展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628371"/>
                  </a:ext>
                </a:extLst>
              </a:tr>
              <a:tr h="54749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中骏森驰汽车零部件（湖北）有限公司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陈莉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已回收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7989781"/>
                  </a:ext>
                </a:extLst>
              </a:tr>
              <a:tr h="54749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山西利虎集团青耀技术玻璃有限公司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9.496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陈莉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已回收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462599"/>
                  </a:ext>
                </a:extLst>
              </a:tr>
              <a:tr h="54749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北京万得嘉瑞汽车技术有限公司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14.76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柴修松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已回收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244419"/>
                  </a:ext>
                </a:extLst>
              </a:tr>
              <a:tr h="54749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宁波华德汽车零部件有限公司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4761.64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闫兴明→阮琪晖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供应商拒绝商折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5593048"/>
                  </a:ext>
                </a:extLst>
              </a:tr>
              <a:tr h="54749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武汉嘉华汽车塑料制品有限公司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8320.44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落国慧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商折回收中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520069"/>
                  </a:ext>
                </a:extLst>
              </a:tr>
              <a:tr h="54749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江苏骅盛车用电子股份有限公司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29802.06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孙学励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商折回收中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7966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9711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占位符 1"/>
          <p:cNvSpPr txBox="1"/>
          <p:nvPr/>
        </p:nvSpPr>
        <p:spPr>
          <a:xfrm>
            <a:off x="107315" y="97790"/>
            <a:ext cx="5596890" cy="552450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二类投资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2025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年遗留尾款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19710" y="731520"/>
            <a:ext cx="14759305" cy="276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车型遗留未提资金付款的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buFont typeface="Wingdings" panose="05000000000000000000" pitchFamily="2" charset="2"/>
              <a:buNone/>
            </a:pP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359410" y="1413510"/>
          <a:ext cx="11068050" cy="2662555"/>
        </p:xfrm>
        <a:graphic>
          <a:graphicData uri="http://schemas.openxmlformats.org/drawingml/2006/table">
            <a:tbl>
              <a:tblPr/>
              <a:tblGrid>
                <a:gridCol w="662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4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20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60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81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32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07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0355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1" i="0">
                          <a:solidFill>
                            <a:srgbClr val="FFFFFF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</a:rPr>
                        <a:t>序号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4A73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1" i="0">
                          <a:solidFill>
                            <a:srgbClr val="FFFFFF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</a:rPr>
                        <a:t>车型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4A73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1" i="0">
                          <a:solidFill>
                            <a:srgbClr val="FFFFFF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</a:rPr>
                        <a:t>合同名称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4A73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1" i="0">
                          <a:solidFill>
                            <a:srgbClr val="FFFFFF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</a:rPr>
                        <a:t>对方单位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4A73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1" i="0">
                          <a:solidFill>
                            <a:srgbClr val="FFFFFF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</a:rPr>
                        <a:t>合同编号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4A73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1" i="0">
                          <a:solidFill>
                            <a:srgbClr val="FFFFFF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</a:rPr>
                        <a:t>采购员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4A73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1" i="0">
                          <a:solidFill>
                            <a:srgbClr val="FFFFFF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</a:rPr>
                        <a:t>合同金额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4A73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1" i="0">
                          <a:solidFill>
                            <a:srgbClr val="FFFFFF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</a:rPr>
                        <a:t>首付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4A73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1" i="0">
                          <a:solidFill>
                            <a:srgbClr val="FFFFFF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</a:rPr>
                        <a:t>尾款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4A7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</a:rPr>
                        <a:t>1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</a:rPr>
                        <a:t>S32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</a:rPr>
                        <a:t>S32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</a:rPr>
                        <a:t>项目白车身钣金包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</a:rPr>
                        <a:t>A1 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</a:rPr>
                        <a:t>工装买卖合同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东风模具冲压技术有限公司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DFPVP2024I-0004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陈飞舟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等线" panose="020F0502020204030204"/>
                          <a:ea typeface="等线" panose="020F0502020204030204"/>
                        </a:rPr>
                        <a:t>10735000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等线" panose="020F0502020204030204"/>
                          <a:ea typeface="等线" panose="020F0502020204030204"/>
                        </a:rPr>
                        <a:t>5367500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等线" panose="020F0502020204030204"/>
                          <a:ea typeface="等线" panose="020F0502020204030204"/>
                        </a:rPr>
                        <a:t>#N/A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</a:rPr>
                        <a:t>2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</a:rPr>
                        <a:t>S32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</a:rPr>
                        <a:t>S32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</a:rPr>
                        <a:t>开启区板件工装买卖合同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武汉惠恒实业有限公司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DFPVP2024I-0006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陈飞舟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等线" panose="020F0502020204030204"/>
                          <a:ea typeface="等线" panose="020F0502020204030204"/>
                        </a:rPr>
                        <a:t>3390000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等线" panose="020F0502020204030204"/>
                          <a:ea typeface="等线" panose="020F0502020204030204"/>
                        </a:rPr>
                        <a:t>1695000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等线" panose="020F0502020204030204"/>
                          <a:ea typeface="等线" panose="020F0502020204030204"/>
                        </a:rPr>
                        <a:t>#N/A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</a:rPr>
                        <a:t>3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</a:rPr>
                        <a:t>S31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</a:rPr>
                        <a:t>欧盟三星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</a:rPr>
                        <a:t>热成型钣金件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东风模冲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XYGCP2024I-0004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陈飞舟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等线" panose="020F0502020204030204"/>
                          <a:ea typeface="等线" panose="020F0502020204030204"/>
                        </a:rPr>
                        <a:t>18798680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等线" panose="020F0502020204030204"/>
                          <a:ea typeface="等线" panose="020F0502020204030204"/>
                        </a:rPr>
                        <a:t>9399340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等线" panose="020F0502020204030204"/>
                          <a:ea typeface="等线" panose="020F0502020204030204"/>
                        </a:rPr>
                        <a:t>#N/A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43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</a:rPr>
                        <a:t>4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</a:rPr>
                        <a:t>S31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</a:rPr>
                        <a:t>欧盟三星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</a:rPr>
                        <a:t>主副仪表板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十堰延锋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XYGCP2025I-0002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刘波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等线" panose="020F0502020204030204"/>
                          <a:ea typeface="等线" panose="020F0502020204030204"/>
                        </a:rPr>
                        <a:t>328355.4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等线" panose="020F0502020204030204"/>
                          <a:ea typeface="等线" panose="020F0502020204030204"/>
                        </a:rPr>
                        <a:t>164177.7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等线" panose="020F0502020204030204"/>
                          <a:ea typeface="等线" panose="020F0502020204030204"/>
                        </a:rPr>
                        <a:t>#N/A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</a:rPr>
                        <a:t>5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</a:rPr>
                        <a:t>S73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</a:rPr>
                        <a:t>右舵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</a:rPr>
                        <a:t>仪表板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武汉嘉华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DFPVP2024I-0048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刘波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等线" panose="020F0502020204030204"/>
                          <a:ea typeface="等线" panose="020F0502020204030204"/>
                        </a:rPr>
                        <a:t>14125000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等线" panose="020F0502020204030204"/>
                          <a:ea typeface="等线" panose="020F0502020204030204"/>
                        </a:rPr>
                        <a:t>7062500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等线" panose="020F0502020204030204"/>
                          <a:ea typeface="等线" panose="020F0502020204030204"/>
                        </a:rPr>
                        <a:t>#N/A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占位符 1"/>
          <p:cNvSpPr txBox="1"/>
          <p:nvPr/>
        </p:nvSpPr>
        <p:spPr>
          <a:xfrm>
            <a:off x="107315" y="97790"/>
            <a:ext cx="5596890" cy="552450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二类投资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年新增项目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718185" y="1096010"/>
          <a:ext cx="10557510" cy="4475480"/>
        </p:xfrm>
        <a:graphic>
          <a:graphicData uri="http://schemas.openxmlformats.org/drawingml/2006/table">
            <a:tbl>
              <a:tblPr/>
              <a:tblGrid>
                <a:gridCol w="629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2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5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0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567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46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385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369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FFFFFF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</a:rPr>
                        <a:t>车型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4A7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FFFFFF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</a:rPr>
                        <a:t>投资零部件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4A7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FFFFFF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</a:rPr>
                        <a:t>选定供应商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4A7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FFFFFF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</a:rPr>
                        <a:t>采购工程师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4A7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FFFFFF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</a:rPr>
                        <a:t>是否上投委会生成预算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4A7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FFFFFF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</a:rPr>
                        <a:t>是否启动预算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4A73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FFFFFF"/>
                          </a:solidFill>
                          <a:latin typeface="阿里巴巴普惠体" panose="00020600040101010101" charset="-122"/>
                          <a:ea typeface="阿里巴巴普惠体" panose="00020600040101010101" charset="-122"/>
                        </a:rPr>
                        <a:t>合同号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4A7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S73b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主副仪表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武汉嘉华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落国慧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是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是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S73b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门护板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东亚合成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邓华平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是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是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DFPVP2026I-0026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S73b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立柱护板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东亚合成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邓华平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是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是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DFPVP2026I-0025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S73b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座椅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武汉天成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张若云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是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是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S73b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前贯穿灯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芜湖安瑞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陈磊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是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是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DFPVP2026I-0004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S73b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尾灯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江苏迅驰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陈磊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是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是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DFPVP2026I-0005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S73b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钣金、开启件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东实实业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熊志勇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是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是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DFPVP2026I-0017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S73b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无框密封条系统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宁海建新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陈莉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是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是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DFPVP2026I-0021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S73b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前风挡（匹配华为智驾）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湖北福耀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陈莉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是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是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DFPVP2026I-0019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S73b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主动进气格栅（外露式）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宁波富诚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陈莉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是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是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DFPVP2026I-0018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S73b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激光雷达装饰板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武汉燎原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刘波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是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是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DFPVP2026I-0023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S73b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前风挡（匹配非华为）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湖北福耀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陈莉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是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是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DFPVP2026I-0020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P59a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主动进气格栅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宁波富诚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陈莉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是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是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P59a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后导流板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武汉名杰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刘波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是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是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DFPVP2026I-0022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P59a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激光雷达装饰罩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东亚合成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邓华平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是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是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DFPVP2026I-0024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P59a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副驾座椅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+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后排座椅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东风延锋汽车座椅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张若云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是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否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P59a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天窗加强环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武汉迈鑫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陈飞舟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是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否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P59a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前围挡板分总成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东风模具冲压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陈飞舟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是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否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P59a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通道里板总成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武汉富仁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梁虎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是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是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DFPVP2026I-0027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P59a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前围挡板中横梁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武汉富仁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梁虎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是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是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DFPVP2026I-0027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等线" panose="020F0502020204030204"/>
                          <a:ea typeface="等线" panose="020F0502020204030204"/>
                        </a:rPr>
                        <a:t>P59a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副仪表板总成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+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上盖板总成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东风延锋汽车座舱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殷辉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否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否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P59a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门内护板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长沙林骏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李义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否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否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219710" y="731520"/>
            <a:ext cx="14759305" cy="276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年新增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车型</a:t>
            </a: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计划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日启动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飞书点检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占位符 1"/>
          <p:cNvSpPr txBox="1"/>
          <p:nvPr/>
        </p:nvSpPr>
        <p:spPr>
          <a:xfrm>
            <a:off x="107315" y="97790"/>
            <a:ext cx="5596890" cy="552450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二类投资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S59b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项目</a:t>
            </a:r>
          </a:p>
        </p:txBody>
      </p:sp>
      <p:cxnSp>
        <p:nvCxnSpPr>
          <p:cNvPr id="2" name="直接连接符 1"/>
          <p:cNvCxnSpPr/>
          <p:nvPr/>
        </p:nvCxnSpPr>
        <p:spPr>
          <a:xfrm flipV="1">
            <a:off x="1339502" y="1396708"/>
            <a:ext cx="8273415" cy="20955"/>
          </a:xfrm>
          <a:prstGeom prst="line">
            <a:avLst/>
          </a:prstGeom>
          <a:noFill/>
          <a:ln w="12700" cap="flat" cmpd="sng" algn="ctr">
            <a:solidFill>
              <a:srgbClr val="002060"/>
            </a:solidFill>
            <a:prstDash val="solid"/>
            <a:miter lim="800000"/>
            <a:tailEnd type="triangle"/>
          </a:ln>
          <a:effectLst/>
        </p:spPr>
      </p:cxnSp>
      <p:grpSp>
        <p:nvGrpSpPr>
          <p:cNvPr id="58" name="组合 57"/>
          <p:cNvGrpSpPr/>
          <p:nvPr/>
        </p:nvGrpSpPr>
        <p:grpSpPr>
          <a:xfrm>
            <a:off x="7615424" y="955078"/>
            <a:ext cx="684378" cy="645838"/>
            <a:chOff x="1150977" y="2154155"/>
            <a:chExt cx="353447" cy="645838"/>
          </a:xfrm>
        </p:grpSpPr>
        <p:sp>
          <p:nvSpPr>
            <p:cNvPr id="59" name="AutoShape 83"/>
            <p:cNvSpPr>
              <a:spLocks noChangeArrowheads="1"/>
            </p:cNvSpPr>
            <p:nvPr/>
          </p:nvSpPr>
          <p:spPr bwMode="auto">
            <a:xfrm flipV="1">
              <a:off x="1253332" y="2478781"/>
              <a:ext cx="104775" cy="133350"/>
            </a:xfrm>
            <a:prstGeom prst="triangle">
              <a:avLst>
                <a:gd name="adj" fmla="val 50000"/>
              </a:avLst>
            </a:prstGeom>
            <a:solidFill>
              <a:srgbClr val="92D050"/>
            </a:solidFill>
            <a:ln w="9525">
              <a:noFill/>
              <a:miter lim="800000"/>
            </a:ln>
          </p:spPr>
          <p:txBody>
            <a:bodyPr lIns="91434" tIns="45717" rIns="91434" bIns="45717"/>
            <a:lstStyle/>
            <a:p>
              <a:pPr defTabSz="9144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900" b="1" kern="0">
                <a:solidFill>
                  <a:srgbClr val="FF0000"/>
                </a:solidFill>
              </a:endParaRPr>
            </a:p>
          </p:txBody>
        </p:sp>
        <p:sp>
          <p:nvSpPr>
            <p:cNvPr id="60" name="TextBox 29"/>
            <p:cNvSpPr txBox="1"/>
            <p:nvPr/>
          </p:nvSpPr>
          <p:spPr>
            <a:xfrm>
              <a:off x="1150977" y="2644080"/>
              <a:ext cx="353447" cy="155913"/>
            </a:xfrm>
            <a:prstGeom prst="rect">
              <a:avLst/>
            </a:prstGeom>
            <a:noFill/>
            <a:ln w="6350" cmpd="sng">
              <a:noFill/>
            </a:ln>
            <a:effectLst/>
          </p:spPr>
          <p:txBody>
            <a:bodyPr lIns="0" tIns="0" rIns="0" bIns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900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7.30</a:t>
              </a:r>
              <a:endParaRPr lang="zh-CN" altLang="en-US" sz="900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TextBox 21"/>
            <p:cNvSpPr txBox="1"/>
            <p:nvPr/>
          </p:nvSpPr>
          <p:spPr>
            <a:xfrm>
              <a:off x="1215910" y="2154155"/>
              <a:ext cx="203350" cy="267072"/>
            </a:xfrm>
            <a:prstGeom prst="rect">
              <a:avLst/>
            </a:prstGeom>
            <a:noFill/>
            <a:ln w="6350" cmpd="sng">
              <a:noFill/>
            </a:ln>
            <a:effectLst/>
          </p:spPr>
          <p:txBody>
            <a:bodyPr lIns="0" tIns="0" rIns="0" bIns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900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尾款</a:t>
              </a: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3559493" y="935752"/>
            <a:ext cx="684380" cy="665373"/>
            <a:chOff x="1155698" y="2134620"/>
            <a:chExt cx="353448" cy="665373"/>
          </a:xfrm>
        </p:grpSpPr>
        <p:sp>
          <p:nvSpPr>
            <p:cNvPr id="63" name="AutoShape 83"/>
            <p:cNvSpPr>
              <a:spLocks noChangeArrowheads="1"/>
            </p:cNvSpPr>
            <p:nvPr/>
          </p:nvSpPr>
          <p:spPr bwMode="auto">
            <a:xfrm flipV="1">
              <a:off x="1253332" y="2478781"/>
              <a:ext cx="104775" cy="133350"/>
            </a:xfrm>
            <a:prstGeom prst="triangle">
              <a:avLst>
                <a:gd name="adj" fmla="val 50000"/>
              </a:avLst>
            </a:prstGeom>
            <a:solidFill>
              <a:srgbClr val="92D050"/>
            </a:solidFill>
            <a:ln w="9525">
              <a:noFill/>
              <a:miter lim="800000"/>
            </a:ln>
          </p:spPr>
          <p:txBody>
            <a:bodyPr lIns="91434" tIns="45717" rIns="91434" bIns="45717"/>
            <a:lstStyle/>
            <a:p>
              <a:pPr defTabSz="9144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900" b="1" kern="0">
                <a:solidFill>
                  <a:srgbClr val="FF0000"/>
                </a:solidFill>
              </a:endParaRPr>
            </a:p>
          </p:txBody>
        </p:sp>
        <p:sp>
          <p:nvSpPr>
            <p:cNvPr id="64" name="TextBox 29"/>
            <p:cNvSpPr txBox="1"/>
            <p:nvPr/>
          </p:nvSpPr>
          <p:spPr>
            <a:xfrm>
              <a:off x="1155699" y="2644080"/>
              <a:ext cx="353447" cy="155913"/>
            </a:xfrm>
            <a:prstGeom prst="rect">
              <a:avLst/>
            </a:prstGeom>
            <a:noFill/>
            <a:ln w="6350" cmpd="sng">
              <a:noFill/>
            </a:ln>
            <a:effectLst/>
          </p:spPr>
          <p:txBody>
            <a:bodyPr lIns="0" tIns="0" rIns="0" bIns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900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2.28</a:t>
              </a:r>
              <a:endParaRPr lang="zh-CN" altLang="en-US" sz="900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TextBox 21"/>
            <p:cNvSpPr txBox="1"/>
            <p:nvPr/>
          </p:nvSpPr>
          <p:spPr>
            <a:xfrm>
              <a:off x="1155698" y="2134620"/>
              <a:ext cx="309423" cy="314708"/>
            </a:xfrm>
            <a:prstGeom prst="rect">
              <a:avLst/>
            </a:prstGeom>
            <a:noFill/>
            <a:ln w="6350" cmpd="sng">
              <a:noFill/>
            </a:ln>
            <a:effectLst/>
          </p:spPr>
          <p:txBody>
            <a:bodyPr lIns="0" tIns="0" rIns="0" bIns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900" kern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合同</a:t>
              </a:r>
            </a:p>
          </p:txBody>
        </p:sp>
      </p:grpSp>
      <p:sp>
        <p:nvSpPr>
          <p:cNvPr id="68" name="AutoShape 83"/>
          <p:cNvSpPr>
            <a:spLocks noChangeArrowheads="1"/>
          </p:cNvSpPr>
          <p:nvPr/>
        </p:nvSpPr>
        <p:spPr bwMode="auto">
          <a:xfrm flipV="1">
            <a:off x="6268085" y="1257300"/>
            <a:ext cx="202565" cy="133350"/>
          </a:xfrm>
          <a:prstGeom prst="triangle">
            <a:avLst>
              <a:gd name="adj" fmla="val 50000"/>
            </a:avLst>
          </a:prstGeom>
          <a:solidFill>
            <a:srgbClr val="92D050"/>
          </a:solidFill>
          <a:ln w="9525">
            <a:noFill/>
            <a:miter lim="800000"/>
          </a:ln>
        </p:spPr>
        <p:txBody>
          <a:bodyPr lIns="91434" tIns="45717" rIns="91434" bIns="45717"/>
          <a:lstStyle/>
          <a:p>
            <a:pPr defTabSz="9144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900" b="1" kern="0">
              <a:solidFill>
                <a:srgbClr val="FF0000"/>
              </a:solidFill>
            </a:endParaRPr>
          </a:p>
        </p:txBody>
      </p:sp>
      <p:sp>
        <p:nvSpPr>
          <p:cNvPr id="69" name="TextBox 29"/>
          <p:cNvSpPr txBox="1"/>
          <p:nvPr/>
        </p:nvSpPr>
        <p:spPr>
          <a:xfrm>
            <a:off x="6069965" y="1422400"/>
            <a:ext cx="684530" cy="156210"/>
          </a:xfrm>
          <a:prstGeom prst="rect">
            <a:avLst/>
          </a:prstGeom>
          <a:noFill/>
          <a:ln w="6350" cmpd="sng">
            <a:noFill/>
          </a:ln>
          <a:effectLst/>
        </p:spPr>
        <p:txBody>
          <a:bodyPr lIns="0" tIns="0" rIns="0" bIns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900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6.30</a:t>
            </a:r>
            <a:endParaRPr lang="zh-CN" altLang="en-US" sz="900" kern="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TextBox 21"/>
          <p:cNvSpPr txBox="1"/>
          <p:nvPr/>
        </p:nvSpPr>
        <p:spPr>
          <a:xfrm>
            <a:off x="6162040" y="917575"/>
            <a:ext cx="485775" cy="283845"/>
          </a:xfrm>
          <a:prstGeom prst="rect">
            <a:avLst/>
          </a:prstGeom>
          <a:noFill/>
          <a:ln w="6350" cmpd="sng">
            <a:noFill/>
          </a:ln>
          <a:effectLst/>
        </p:spPr>
        <p:txBody>
          <a:bodyPr lIns="0" tIns="0" rIns="0" bIns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900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终验收</a:t>
            </a:r>
          </a:p>
        </p:txBody>
      </p:sp>
      <p:grpSp>
        <p:nvGrpSpPr>
          <p:cNvPr id="75" name="组合 74"/>
          <p:cNvGrpSpPr/>
          <p:nvPr/>
        </p:nvGrpSpPr>
        <p:grpSpPr>
          <a:xfrm>
            <a:off x="4684062" y="973479"/>
            <a:ext cx="684378" cy="593784"/>
            <a:chOff x="1131211" y="2197997"/>
            <a:chExt cx="353447" cy="593784"/>
          </a:xfrm>
        </p:grpSpPr>
        <p:sp>
          <p:nvSpPr>
            <p:cNvPr id="76" name="AutoShape 83"/>
            <p:cNvSpPr>
              <a:spLocks noChangeArrowheads="1"/>
            </p:cNvSpPr>
            <p:nvPr/>
          </p:nvSpPr>
          <p:spPr bwMode="auto">
            <a:xfrm flipV="1">
              <a:off x="1253332" y="2478781"/>
              <a:ext cx="104775" cy="133350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 lIns="91434" tIns="45717" rIns="91434" bIns="45717"/>
            <a:lstStyle/>
            <a:p>
              <a:pPr defTabSz="9144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900" b="1" kern="0">
                <a:solidFill>
                  <a:srgbClr val="FF0000"/>
                </a:solidFill>
              </a:endParaRPr>
            </a:p>
          </p:txBody>
        </p:sp>
        <p:sp>
          <p:nvSpPr>
            <p:cNvPr id="77" name="TextBox 29"/>
            <p:cNvSpPr txBox="1"/>
            <p:nvPr/>
          </p:nvSpPr>
          <p:spPr>
            <a:xfrm>
              <a:off x="1131211" y="2635868"/>
              <a:ext cx="353447" cy="155913"/>
            </a:xfrm>
            <a:prstGeom prst="rect">
              <a:avLst/>
            </a:prstGeom>
            <a:noFill/>
            <a:ln w="6350" cmpd="sng">
              <a:noFill/>
            </a:ln>
            <a:effectLst/>
          </p:spPr>
          <p:txBody>
            <a:bodyPr lIns="0" tIns="0" rIns="0" bIns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900" kern="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3.31</a:t>
              </a:r>
            </a:p>
          </p:txBody>
        </p:sp>
        <p:sp>
          <p:nvSpPr>
            <p:cNvPr id="78" name="TextBox 21"/>
            <p:cNvSpPr txBox="1"/>
            <p:nvPr/>
          </p:nvSpPr>
          <p:spPr>
            <a:xfrm>
              <a:off x="1201422" y="2197997"/>
              <a:ext cx="258768" cy="230877"/>
            </a:xfrm>
            <a:prstGeom prst="rect">
              <a:avLst/>
            </a:prstGeom>
            <a:noFill/>
            <a:ln w="6350" cmpd="sng">
              <a:noFill/>
            </a:ln>
            <a:effectLst/>
          </p:spPr>
          <p:txBody>
            <a:bodyPr lIns="0" tIns="0" rIns="0" bIns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900" kern="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首付款</a:t>
              </a:r>
            </a:p>
          </p:txBody>
        </p:sp>
      </p:grpSp>
      <p:sp>
        <p:nvSpPr>
          <p:cNvPr id="79" name="圆角矩形 78"/>
          <p:cNvSpPr/>
          <p:nvPr/>
        </p:nvSpPr>
        <p:spPr>
          <a:xfrm>
            <a:off x="4703452" y="917815"/>
            <a:ext cx="640722" cy="80372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0" name="组合 79"/>
          <p:cNvGrpSpPr/>
          <p:nvPr/>
        </p:nvGrpSpPr>
        <p:grpSpPr>
          <a:xfrm>
            <a:off x="1276266" y="849668"/>
            <a:ext cx="770390" cy="735164"/>
            <a:chOff x="1150977" y="2064829"/>
            <a:chExt cx="353447" cy="735164"/>
          </a:xfrm>
        </p:grpSpPr>
        <p:sp>
          <p:nvSpPr>
            <p:cNvPr id="81" name="AutoShape 83"/>
            <p:cNvSpPr>
              <a:spLocks noChangeArrowheads="1"/>
            </p:cNvSpPr>
            <p:nvPr/>
          </p:nvSpPr>
          <p:spPr bwMode="auto">
            <a:xfrm flipV="1">
              <a:off x="1253332" y="2478781"/>
              <a:ext cx="104775" cy="133350"/>
            </a:xfrm>
            <a:prstGeom prst="triangle">
              <a:avLst>
                <a:gd name="adj" fmla="val 50000"/>
              </a:avLst>
            </a:prstGeom>
            <a:solidFill>
              <a:srgbClr val="92D050"/>
            </a:solidFill>
            <a:ln w="9525">
              <a:noFill/>
              <a:miter lim="800000"/>
            </a:ln>
          </p:spPr>
          <p:txBody>
            <a:bodyPr lIns="91434" tIns="45717" rIns="91434" bIns="45717"/>
            <a:lstStyle/>
            <a:p>
              <a:pPr defTabSz="9144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900" b="1" kern="0">
                <a:solidFill>
                  <a:srgbClr val="00B050"/>
                </a:solidFill>
              </a:endParaRPr>
            </a:p>
          </p:txBody>
        </p:sp>
        <p:sp>
          <p:nvSpPr>
            <p:cNvPr id="82" name="TextBox 29"/>
            <p:cNvSpPr txBox="1"/>
            <p:nvPr/>
          </p:nvSpPr>
          <p:spPr>
            <a:xfrm>
              <a:off x="1150977" y="2644080"/>
              <a:ext cx="353447" cy="155913"/>
            </a:xfrm>
            <a:prstGeom prst="rect">
              <a:avLst/>
            </a:prstGeom>
            <a:noFill/>
            <a:ln w="6350" cmpd="sng">
              <a:noFill/>
            </a:ln>
            <a:effectLst/>
          </p:spPr>
          <p:txBody>
            <a:bodyPr lIns="0" tIns="0" rIns="0" bIns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900" kern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2026.1.28</a:t>
              </a:r>
            </a:p>
          </p:txBody>
        </p:sp>
        <p:sp>
          <p:nvSpPr>
            <p:cNvPr id="83" name="TextBox 21"/>
            <p:cNvSpPr txBox="1"/>
            <p:nvPr/>
          </p:nvSpPr>
          <p:spPr>
            <a:xfrm>
              <a:off x="1179989" y="2064829"/>
              <a:ext cx="220171" cy="287285"/>
            </a:xfrm>
            <a:prstGeom prst="rect">
              <a:avLst/>
            </a:prstGeom>
            <a:noFill/>
            <a:ln w="6350" cmpd="sng">
              <a:noFill/>
            </a:ln>
            <a:effectLst/>
          </p:spPr>
          <p:txBody>
            <a:bodyPr lIns="0" tIns="0" rIns="0" bIns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900" kern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项目开始</a:t>
              </a:r>
            </a:p>
          </p:txBody>
        </p:sp>
      </p:grpSp>
      <p:sp>
        <p:nvSpPr>
          <p:cNvPr id="8" name="AutoShape 83"/>
          <p:cNvSpPr>
            <a:spLocks noChangeArrowheads="1"/>
          </p:cNvSpPr>
          <p:nvPr/>
        </p:nvSpPr>
        <p:spPr bwMode="auto">
          <a:xfrm flipV="1">
            <a:off x="2702054" y="1261080"/>
            <a:ext cx="228373" cy="133350"/>
          </a:xfrm>
          <a:prstGeom prst="triangle">
            <a:avLst>
              <a:gd name="adj" fmla="val 50000"/>
            </a:avLst>
          </a:prstGeom>
          <a:solidFill>
            <a:srgbClr val="92D050"/>
          </a:solidFill>
          <a:ln w="9525">
            <a:noFill/>
            <a:miter lim="800000"/>
          </a:ln>
        </p:spPr>
        <p:txBody>
          <a:bodyPr lIns="91434" tIns="45717" rIns="91434" bIns="45717"/>
          <a:lstStyle/>
          <a:p>
            <a:pPr defTabSz="9144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900" b="1" kern="0">
              <a:solidFill>
                <a:srgbClr val="00B050"/>
              </a:solidFill>
            </a:endParaRPr>
          </a:p>
        </p:txBody>
      </p:sp>
      <p:sp>
        <p:nvSpPr>
          <p:cNvPr id="9" name="TextBox 29"/>
          <p:cNvSpPr txBox="1"/>
          <p:nvPr/>
        </p:nvSpPr>
        <p:spPr>
          <a:xfrm>
            <a:off x="2478956" y="1426379"/>
            <a:ext cx="770390" cy="155913"/>
          </a:xfrm>
          <a:prstGeom prst="rect">
            <a:avLst/>
          </a:prstGeom>
          <a:noFill/>
          <a:ln w="6350" cmpd="sng">
            <a:noFill/>
          </a:ln>
          <a:effectLst/>
        </p:spPr>
        <p:txBody>
          <a:bodyPr lIns="0" tIns="0" rIns="0" bIns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9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2026.4.30</a:t>
            </a:r>
          </a:p>
        </p:txBody>
      </p:sp>
      <p:sp>
        <p:nvSpPr>
          <p:cNvPr id="10" name="TextBox 21"/>
          <p:cNvSpPr txBox="1"/>
          <p:nvPr/>
        </p:nvSpPr>
        <p:spPr>
          <a:xfrm>
            <a:off x="2542192" y="847128"/>
            <a:ext cx="479895" cy="287285"/>
          </a:xfrm>
          <a:prstGeom prst="rect">
            <a:avLst/>
          </a:prstGeom>
          <a:noFill/>
          <a:ln w="6350" cmpd="sng">
            <a:noFill/>
          </a:ln>
          <a:effectLst/>
        </p:spPr>
        <p:txBody>
          <a:bodyPr lIns="0" tIns="0" rIns="0" bIns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9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SOP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1499235" y="6273800"/>
            <a:ext cx="999236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/>
              <a:t>飞书链接：https://dongfengyipai.feishu.cn/base/N8SgbelLOaQTJCsVtsEcXvzGnfc?from=from_copylink</a:t>
            </a:r>
          </a:p>
        </p:txBody>
      </p:sp>
      <p:graphicFrame>
        <p:nvGraphicFramePr>
          <p:cNvPr id="7" name="表格 6"/>
          <p:cNvGraphicFramePr/>
          <p:nvPr/>
        </p:nvGraphicFramePr>
        <p:xfrm>
          <a:off x="354965" y="4750435"/>
          <a:ext cx="10972800" cy="902970"/>
        </p:xfrm>
        <a:graphic>
          <a:graphicData uri="http://schemas.openxmlformats.org/drawingml/2006/table">
            <a:tbl>
              <a:tblPr/>
              <a:tblGrid>
                <a:gridCol w="661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6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6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20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21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7411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455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18821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8067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车型</a:t>
                      </a: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项目立项时间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SOP</a:t>
                      </a:r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时间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合同号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供应商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采购工程师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首付款目标时间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1" i="0">
                          <a:solidFill>
                            <a:srgbClr val="FF0000"/>
                          </a:solidFill>
                          <a:latin typeface="微软雅黑"/>
                          <a:ea typeface="微软雅黑"/>
                        </a:rPr>
                        <a:t>首付款实际时间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1" i="0">
                          <a:solidFill>
                            <a:srgbClr val="FF0000"/>
                          </a:solidFill>
                          <a:latin typeface="微软雅黑"/>
                          <a:ea typeface="微软雅黑"/>
                        </a:rPr>
                        <a:t>首付款延期判断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1" i="0">
                          <a:solidFill>
                            <a:srgbClr val="FF0000"/>
                          </a:solidFill>
                          <a:latin typeface="微软雅黑"/>
                          <a:ea typeface="微软雅黑"/>
                        </a:rPr>
                        <a:t>延期原因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S596b</a:t>
                      </a: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2026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月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28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日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2026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月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30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日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DFPVP2025I-0031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武汉迈鑫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陈飞舟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2026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月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31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日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45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、</a:t>
                      </a:r>
                      <a:r>
                        <a:rPr 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转固延迟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；</a:t>
                      </a:r>
                      <a:b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、计划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月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30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日完成</a:t>
                      </a: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245" y="1774190"/>
            <a:ext cx="11464925" cy="27603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占位符 1"/>
          <p:cNvSpPr txBox="1"/>
          <p:nvPr/>
        </p:nvSpPr>
        <p:spPr>
          <a:xfrm>
            <a:off x="107315" y="97790"/>
            <a:ext cx="5596890" cy="552450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二类投资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DH1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项目</a:t>
            </a:r>
          </a:p>
        </p:txBody>
      </p:sp>
      <p:cxnSp>
        <p:nvCxnSpPr>
          <p:cNvPr id="2" name="直接连接符 1"/>
          <p:cNvCxnSpPr/>
          <p:nvPr/>
        </p:nvCxnSpPr>
        <p:spPr>
          <a:xfrm flipV="1">
            <a:off x="1339502" y="1404328"/>
            <a:ext cx="7823835" cy="13335"/>
          </a:xfrm>
          <a:prstGeom prst="line">
            <a:avLst/>
          </a:prstGeom>
          <a:noFill/>
          <a:ln w="12700" cap="flat" cmpd="sng" algn="ctr">
            <a:solidFill>
              <a:srgbClr val="00206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8" name="AutoShape 83"/>
          <p:cNvSpPr>
            <a:spLocks noChangeArrowheads="1"/>
          </p:cNvSpPr>
          <p:nvPr/>
        </p:nvSpPr>
        <p:spPr bwMode="auto">
          <a:xfrm flipV="1">
            <a:off x="7308850" y="1257300"/>
            <a:ext cx="202565" cy="133350"/>
          </a:xfrm>
          <a:prstGeom prst="triangle">
            <a:avLst>
              <a:gd name="adj" fmla="val 50000"/>
            </a:avLst>
          </a:prstGeom>
          <a:solidFill>
            <a:srgbClr val="92D050"/>
          </a:solidFill>
          <a:ln w="9525">
            <a:noFill/>
            <a:miter lim="800000"/>
          </a:ln>
        </p:spPr>
        <p:txBody>
          <a:bodyPr lIns="91434" tIns="45717" rIns="91434" bIns="45717"/>
          <a:lstStyle/>
          <a:p>
            <a:pPr defTabSz="9144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900" b="1" kern="0">
              <a:solidFill>
                <a:srgbClr val="FF0000"/>
              </a:solidFill>
            </a:endParaRPr>
          </a:p>
        </p:txBody>
      </p:sp>
      <p:sp>
        <p:nvSpPr>
          <p:cNvPr id="69" name="TextBox 29"/>
          <p:cNvSpPr txBox="1"/>
          <p:nvPr/>
        </p:nvSpPr>
        <p:spPr>
          <a:xfrm>
            <a:off x="7110730" y="1422400"/>
            <a:ext cx="684530" cy="156210"/>
          </a:xfrm>
          <a:prstGeom prst="rect">
            <a:avLst/>
          </a:prstGeom>
          <a:noFill/>
          <a:ln w="6350" cmpd="sng">
            <a:noFill/>
          </a:ln>
          <a:effectLst/>
        </p:spPr>
        <p:txBody>
          <a:bodyPr lIns="0" tIns="0" rIns="0" bIns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900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2026.9.30</a:t>
            </a:r>
            <a:endParaRPr lang="zh-CN" altLang="en-US" sz="900" kern="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TextBox 21"/>
          <p:cNvSpPr txBox="1"/>
          <p:nvPr/>
        </p:nvSpPr>
        <p:spPr>
          <a:xfrm>
            <a:off x="7202805" y="917575"/>
            <a:ext cx="485775" cy="283845"/>
          </a:xfrm>
          <a:prstGeom prst="rect">
            <a:avLst/>
          </a:prstGeom>
          <a:noFill/>
          <a:ln w="6350" cmpd="sng">
            <a:noFill/>
          </a:ln>
          <a:effectLst/>
        </p:spPr>
        <p:txBody>
          <a:bodyPr lIns="0" tIns="0" rIns="0" bIns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900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终验收</a:t>
            </a:r>
          </a:p>
        </p:txBody>
      </p:sp>
      <p:grpSp>
        <p:nvGrpSpPr>
          <p:cNvPr id="75" name="组合 74"/>
          <p:cNvGrpSpPr/>
          <p:nvPr/>
        </p:nvGrpSpPr>
        <p:grpSpPr>
          <a:xfrm>
            <a:off x="4684062" y="973479"/>
            <a:ext cx="684378" cy="593784"/>
            <a:chOff x="1131211" y="2197997"/>
            <a:chExt cx="353447" cy="593784"/>
          </a:xfrm>
        </p:grpSpPr>
        <p:sp>
          <p:nvSpPr>
            <p:cNvPr id="76" name="AutoShape 83"/>
            <p:cNvSpPr>
              <a:spLocks noChangeArrowheads="1"/>
            </p:cNvSpPr>
            <p:nvPr/>
          </p:nvSpPr>
          <p:spPr bwMode="auto">
            <a:xfrm flipV="1">
              <a:off x="1253332" y="2478781"/>
              <a:ext cx="104775" cy="133350"/>
            </a:xfrm>
            <a:prstGeom prst="triangle">
              <a:avLst>
                <a:gd name="adj" fmla="val 50000"/>
              </a:avLst>
            </a:prstGeom>
            <a:solidFill>
              <a:srgbClr val="92D050"/>
            </a:solidFill>
            <a:ln w="9525">
              <a:noFill/>
              <a:miter lim="800000"/>
            </a:ln>
          </p:spPr>
          <p:txBody>
            <a:bodyPr lIns="91434" tIns="45717" rIns="91434" bIns="45717"/>
            <a:lstStyle/>
            <a:p>
              <a:pPr defTabSz="9144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900" b="1" kern="0">
                <a:solidFill>
                  <a:srgbClr val="FF0000"/>
                </a:solidFill>
              </a:endParaRPr>
            </a:p>
          </p:txBody>
        </p:sp>
        <p:sp>
          <p:nvSpPr>
            <p:cNvPr id="77" name="TextBox 29"/>
            <p:cNvSpPr txBox="1"/>
            <p:nvPr/>
          </p:nvSpPr>
          <p:spPr>
            <a:xfrm>
              <a:off x="1131211" y="2635868"/>
              <a:ext cx="353447" cy="155913"/>
            </a:xfrm>
            <a:prstGeom prst="rect">
              <a:avLst/>
            </a:prstGeom>
            <a:noFill/>
            <a:ln w="6350" cmpd="sng">
              <a:noFill/>
            </a:ln>
            <a:effectLst/>
          </p:spPr>
          <p:txBody>
            <a:bodyPr lIns="0" tIns="0" rIns="0" bIns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900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2026.3.31</a:t>
              </a:r>
            </a:p>
          </p:txBody>
        </p:sp>
        <p:sp>
          <p:nvSpPr>
            <p:cNvPr id="78" name="TextBox 21"/>
            <p:cNvSpPr txBox="1"/>
            <p:nvPr/>
          </p:nvSpPr>
          <p:spPr>
            <a:xfrm>
              <a:off x="1201422" y="2197997"/>
              <a:ext cx="258768" cy="230877"/>
            </a:xfrm>
            <a:prstGeom prst="rect">
              <a:avLst/>
            </a:prstGeom>
            <a:noFill/>
            <a:ln w="6350" cmpd="sng">
              <a:noFill/>
            </a:ln>
            <a:effectLst/>
          </p:spPr>
          <p:txBody>
            <a:bodyPr lIns="0" tIns="0" rIns="0" bIns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900" kern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合同</a:t>
              </a: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1276266" y="849668"/>
            <a:ext cx="770255" cy="735330"/>
            <a:chOff x="1150977" y="2064829"/>
            <a:chExt cx="353385" cy="735330"/>
          </a:xfrm>
        </p:grpSpPr>
        <p:sp>
          <p:nvSpPr>
            <p:cNvPr id="81" name="AutoShape 83"/>
            <p:cNvSpPr>
              <a:spLocks noChangeArrowheads="1"/>
            </p:cNvSpPr>
            <p:nvPr/>
          </p:nvSpPr>
          <p:spPr bwMode="auto">
            <a:xfrm flipV="1">
              <a:off x="1253332" y="2478781"/>
              <a:ext cx="104775" cy="133350"/>
            </a:xfrm>
            <a:prstGeom prst="triangle">
              <a:avLst>
                <a:gd name="adj" fmla="val 50000"/>
              </a:avLst>
            </a:prstGeom>
            <a:solidFill>
              <a:srgbClr val="92D050"/>
            </a:solidFill>
            <a:ln w="9525">
              <a:noFill/>
              <a:miter lim="800000"/>
            </a:ln>
          </p:spPr>
          <p:txBody>
            <a:bodyPr lIns="91434" tIns="45717" rIns="91434" bIns="45717"/>
            <a:lstStyle/>
            <a:p>
              <a:pPr defTabSz="9144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900" b="1" kern="0">
                <a:solidFill>
                  <a:srgbClr val="00B050"/>
                </a:solidFill>
              </a:endParaRPr>
            </a:p>
          </p:txBody>
        </p:sp>
        <p:sp>
          <p:nvSpPr>
            <p:cNvPr id="82" name="TextBox 29"/>
            <p:cNvSpPr txBox="1"/>
            <p:nvPr/>
          </p:nvSpPr>
          <p:spPr>
            <a:xfrm>
              <a:off x="1150977" y="2635059"/>
              <a:ext cx="353385" cy="165100"/>
            </a:xfrm>
            <a:prstGeom prst="rect">
              <a:avLst/>
            </a:prstGeom>
            <a:noFill/>
            <a:ln w="6350" cmpd="sng">
              <a:noFill/>
            </a:ln>
            <a:effectLst/>
          </p:spPr>
          <p:txBody>
            <a:bodyPr lIns="0" tIns="0" rIns="0" bIns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900" kern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2026.2.28</a:t>
              </a:r>
            </a:p>
          </p:txBody>
        </p:sp>
        <p:sp>
          <p:nvSpPr>
            <p:cNvPr id="83" name="TextBox 21"/>
            <p:cNvSpPr txBox="1"/>
            <p:nvPr/>
          </p:nvSpPr>
          <p:spPr>
            <a:xfrm>
              <a:off x="1179989" y="2064829"/>
              <a:ext cx="220171" cy="287285"/>
            </a:xfrm>
            <a:prstGeom prst="rect">
              <a:avLst/>
            </a:prstGeom>
            <a:noFill/>
            <a:ln w="6350" cmpd="sng">
              <a:noFill/>
            </a:ln>
            <a:effectLst/>
          </p:spPr>
          <p:txBody>
            <a:bodyPr lIns="0" tIns="0" rIns="0" bIns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900" kern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项目开始</a:t>
              </a:r>
            </a:p>
          </p:txBody>
        </p:sp>
      </p:grpSp>
      <p:sp>
        <p:nvSpPr>
          <p:cNvPr id="8" name="AutoShape 83"/>
          <p:cNvSpPr>
            <a:spLocks noChangeArrowheads="1"/>
          </p:cNvSpPr>
          <p:nvPr/>
        </p:nvSpPr>
        <p:spPr bwMode="auto">
          <a:xfrm flipV="1">
            <a:off x="3051304" y="1261080"/>
            <a:ext cx="228373" cy="133350"/>
          </a:xfrm>
          <a:prstGeom prst="triangle">
            <a:avLst>
              <a:gd name="adj" fmla="val 50000"/>
            </a:avLst>
          </a:prstGeom>
          <a:solidFill>
            <a:srgbClr val="92D050"/>
          </a:solidFill>
          <a:ln w="9525">
            <a:noFill/>
            <a:miter lim="800000"/>
          </a:ln>
        </p:spPr>
        <p:txBody>
          <a:bodyPr lIns="91434" tIns="45717" rIns="91434" bIns="45717"/>
          <a:lstStyle/>
          <a:p>
            <a:pPr defTabSz="9144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900" b="1" kern="0">
              <a:solidFill>
                <a:srgbClr val="00B050"/>
              </a:solidFill>
            </a:endParaRPr>
          </a:p>
        </p:txBody>
      </p:sp>
      <p:sp>
        <p:nvSpPr>
          <p:cNvPr id="9" name="TextBox 29"/>
          <p:cNvSpPr txBox="1"/>
          <p:nvPr/>
        </p:nvSpPr>
        <p:spPr>
          <a:xfrm>
            <a:off x="2828206" y="1426379"/>
            <a:ext cx="770390" cy="155913"/>
          </a:xfrm>
          <a:prstGeom prst="rect">
            <a:avLst/>
          </a:prstGeom>
          <a:noFill/>
          <a:ln w="6350" cmpd="sng">
            <a:noFill/>
          </a:ln>
          <a:effectLst/>
        </p:spPr>
        <p:txBody>
          <a:bodyPr lIns="0" tIns="0" rIns="0" bIns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9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2026.7.30</a:t>
            </a:r>
          </a:p>
        </p:txBody>
      </p:sp>
      <p:sp>
        <p:nvSpPr>
          <p:cNvPr id="10" name="TextBox 21"/>
          <p:cNvSpPr txBox="1"/>
          <p:nvPr/>
        </p:nvSpPr>
        <p:spPr>
          <a:xfrm>
            <a:off x="2891442" y="847128"/>
            <a:ext cx="479895" cy="287285"/>
          </a:xfrm>
          <a:prstGeom prst="rect">
            <a:avLst/>
          </a:prstGeom>
          <a:noFill/>
          <a:ln w="6350" cmpd="sng">
            <a:noFill/>
          </a:ln>
          <a:effectLst/>
        </p:spPr>
        <p:txBody>
          <a:bodyPr lIns="0" tIns="0" rIns="0" bIns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9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SOP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408430" y="6390005"/>
            <a:ext cx="999236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/>
              <a:t>飞书链接：https://dongfengyipai.feishu.cn/base/N8SgbelLOaQTJCsVtsEcXvzGnfc?from=from_copylink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230" y="1688465"/>
            <a:ext cx="11439525" cy="20535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230" y="3790950"/>
            <a:ext cx="11498580" cy="2532380"/>
          </a:xfrm>
          <a:prstGeom prst="rect">
            <a:avLst/>
          </a:prstGeom>
        </p:spPr>
      </p:pic>
      <p:sp>
        <p:nvSpPr>
          <p:cNvPr id="79" name="圆角矩形 78"/>
          <p:cNvSpPr/>
          <p:nvPr/>
        </p:nvSpPr>
        <p:spPr>
          <a:xfrm>
            <a:off x="4727582" y="858760"/>
            <a:ext cx="640722" cy="80372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2359155"/>
            <a:ext cx="12192000" cy="1069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800" b="1" dirty="0">
                <a:latin typeface="+mn-ea"/>
              </a:rPr>
              <a:t>以上汇报</a:t>
            </a:r>
          </a:p>
        </p:txBody>
      </p:sp>
    </p:spTree>
    <p:extLst>
      <p:ext uri="{BB962C8B-B14F-4D97-AF65-F5344CB8AC3E}">
        <p14:creationId xmlns:p14="http://schemas.microsoft.com/office/powerpoint/2010/main" val="147808786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67*151"/>
  <p:tag name="TABLE_ENDDRAG_RECT" val="40*118*867*151"/>
</p:tagLst>
</file>

<file path=ppt/theme/theme1.xml><?xml version="1.0" encoding="utf-8"?>
<a:theme xmlns:a="http://schemas.openxmlformats.org/drawingml/2006/main" name="2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13128</TotalTime>
  <Words>1947</Words>
  <Application>Microsoft Office PowerPoint</Application>
  <PresentationFormat>宽屏</PresentationFormat>
  <Paragraphs>618</Paragraphs>
  <Slides>13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阿里巴巴普惠体</vt:lpstr>
      <vt:lpstr>等线</vt:lpstr>
      <vt:lpstr>等线 Light</vt:lpstr>
      <vt:lpstr>楷体</vt:lpstr>
      <vt:lpstr>宋体</vt:lpstr>
      <vt:lpstr>微软雅黑</vt:lpstr>
      <vt:lpstr>微软雅黑 Light</vt:lpstr>
      <vt:lpstr>Arial</vt:lpstr>
      <vt:lpstr>Calibri</vt:lpstr>
      <vt:lpstr>Calibri Light</vt:lpstr>
      <vt:lpstr>Wingdings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蔡成伟</dc:creator>
  <cp:lastModifiedBy>蔡成伟</cp:lastModifiedBy>
  <cp:revision>838</cp:revision>
  <dcterms:created xsi:type="dcterms:W3CDTF">2024-08-26T03:03:14Z</dcterms:created>
  <dcterms:modified xsi:type="dcterms:W3CDTF">2026-06-01T00:54:50Z</dcterms:modified>
</cp:coreProperties>
</file>